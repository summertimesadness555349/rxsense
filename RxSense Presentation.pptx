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1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3" r:id="rId3"/>
  </p:sldMasterIdLst>
  <p:notesMasterIdLst>
    <p:notesMasterId r:id="rId29"/>
  </p:notesMasterIdLst>
  <p:sldIdLst>
    <p:sldId id="271" r:id="rId4"/>
    <p:sldId id="256" r:id="rId5"/>
    <p:sldId id="257" r:id="rId6"/>
    <p:sldId id="281" r:id="rId7"/>
    <p:sldId id="258" r:id="rId8"/>
    <p:sldId id="276" r:id="rId9"/>
    <p:sldId id="272" r:id="rId10"/>
    <p:sldId id="277" r:id="rId11"/>
    <p:sldId id="279" r:id="rId12"/>
    <p:sldId id="280" r:id="rId13"/>
    <p:sldId id="261" r:id="rId14"/>
    <p:sldId id="286" r:id="rId15"/>
    <p:sldId id="287" r:id="rId16"/>
    <p:sldId id="288" r:id="rId17"/>
    <p:sldId id="262" r:id="rId18"/>
    <p:sldId id="263" r:id="rId19"/>
    <p:sldId id="269" r:id="rId20"/>
    <p:sldId id="265" r:id="rId21"/>
    <p:sldId id="266" r:id="rId22"/>
    <p:sldId id="267" r:id="rId23"/>
    <p:sldId id="268" r:id="rId24"/>
    <p:sldId id="273" r:id="rId25"/>
    <p:sldId id="274" r:id="rId26"/>
    <p:sldId id="278" r:id="rId27"/>
    <p:sldId id="285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presProps" Target="presProps.xml"/><Relationship Id="rId8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265A06-424B-44EA-BDC6-E0C2491A53F2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D54C6C-0703-43D3-AEA1-A60E6D79B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17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49131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8C750-0DD8-67E0-A3E4-0D7DDC1A6A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F69076-342C-DA8F-EFC7-9FE05654FA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BF6F9C-7CA8-5BCC-99F8-E04C04919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466D1-AB95-4AC0-92C9-494FDEDE03B2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DBAB6F-A9AD-6DC4-718B-7E74A6411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A80989-413A-B8D9-4DF1-6DBBCC955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C014D-DFD0-457B-B766-082C691CB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6701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EACEF-6B85-3DD7-0853-318C96F58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69300-1A09-7EE5-F39F-E29917A1B2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B1C347-A0A3-D3A6-6ED7-014C23DF0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466D1-AB95-4AC0-92C9-494FDEDE03B2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6A08FC-B290-2349-B620-F328279D2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12896B-7E8E-FA31-9C1C-D28101017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C014D-DFD0-457B-B766-082C691CB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45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7017E-2DA9-3377-5751-A7A912D36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2397EC-5CE4-223C-AEED-8D94992F08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7D81FD-D9D5-453E-8117-E0427624D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466D1-AB95-4AC0-92C9-494FDEDE03B2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E99C3B-E038-E8A3-D93A-1344AF5E6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783638-C39C-2F8F-525B-0D2B8FC1A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C014D-DFD0-457B-B766-082C691CB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063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484CA-077D-CBE4-519E-56A25C8A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2F60E5-A271-C4B1-2C5B-6FF859CE8E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B7AF74-0E5E-8B48-6A41-07C714358F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4E7EE3-25BD-1729-0EB4-41EB98356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466D1-AB95-4AC0-92C9-494FDEDE03B2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6A20A8-3F7A-3245-0E36-F13EC1473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9E2079-7DE6-53B6-946E-5D220C77F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C014D-DFD0-457B-B766-082C691CB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852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DA03-2870-FD5C-581F-3F6A0A70B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34809C-8887-316C-4DB3-745CCFC3A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B1B0ED-FE93-7304-0E39-B034B30ECC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ECDE07-E1FB-C27E-350C-8E650158A7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C5F2BC-373C-00FD-BAA2-E2E27C3186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EEE410-08AF-3B53-0C31-74D7E53F9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466D1-AB95-4AC0-92C9-494FDEDE03B2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57318E-060F-F18D-8E8A-C09473112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63959D-E8EF-18D7-27E4-B098A1268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C014D-DFD0-457B-B766-082C691CB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449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981BF-B167-5FE3-B615-3F3014001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E9357B-D44D-36E5-F363-974FF87C1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466D1-AB95-4AC0-92C9-494FDEDE03B2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61BBE-635C-DFB7-B3F8-F8EC5A0EA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B17E27-A0ED-E452-A893-F6D8759D2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C014D-DFD0-457B-B766-082C691CB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041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6E32A9-AAFA-C7AB-DB6F-D9772507A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466D1-AB95-4AC0-92C9-494FDEDE03B2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7B4FFE-3031-858A-8FBC-1A9573A5A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91EC0-9F73-A94A-2CF0-7846B8B28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C014D-DFD0-457B-B766-082C691CB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730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5564D-89C5-03D8-D24B-C13975B03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3269D6-34E9-2976-C936-3B432F83C5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4CF20-C56E-A764-6E9D-4B74A4F9EB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B5A355-115D-9DAE-3155-8D457779F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466D1-AB95-4AC0-92C9-494FDEDE03B2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F4DC48-5B52-49A7-ECC8-57509A05A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246BCB-9E16-E8EB-B440-2158E00C8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C014D-DFD0-457B-B766-082C691CB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2590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BE2CE-AD7F-F917-2A84-0943C1265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AFC929-F546-254A-061B-961850C05D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AFA1F6-70D3-1060-CB98-40CA30E289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8BC161-E1C5-5E7B-7246-D78EF3833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466D1-AB95-4AC0-92C9-494FDEDE03B2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9CE770-F514-953F-9E7E-AEC74B84A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5A4051-D95A-08A2-7A1F-903883019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C014D-DFD0-457B-B766-082C691CB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336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F7C19-A9B1-8EF7-D5D7-5DFEAC9B9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4CA39B-A081-948E-BE2B-3BD8EE58B2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EC821A-3E56-502C-387E-A26730FFA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466D1-AB95-4AC0-92C9-494FDEDE03B2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ED4C0-E2AA-7742-255C-58DAE45CB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DBD1F5-0D60-EDB6-13B2-8146D7AE1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C014D-DFD0-457B-B766-082C691CB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2363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147715-E141-9CE5-B424-5CA142B15E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F8CCDC-084F-9045-290C-4EAD7701E1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AF6962-DBFE-45F4-12A7-09B6CEDF4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466D1-AB95-4AC0-92C9-494FDEDE03B2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826B4A-EE62-F064-DF65-55AD81AE3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A6D4C6-64E4-7D19-4891-151A67492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C014D-DFD0-457B-B766-082C691CB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947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8C750-0DD8-67E0-A3E4-0D7DDC1A6A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F69076-342C-DA8F-EFC7-9FE05654FA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BF6F9C-7CA8-5BCC-99F8-E04C04919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466D1-AB95-4AC0-92C9-494FDEDE03B2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DBAB6F-A9AD-6DC4-718B-7E74A6411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A80989-413A-B8D9-4DF1-6DBBCC955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C014D-DFD0-457B-B766-082C691CB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8228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EACEF-6B85-3DD7-0853-318C96F58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69300-1A09-7EE5-F39F-E29917A1B2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B1C347-A0A3-D3A6-6ED7-014C23DF0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466D1-AB95-4AC0-92C9-494FDEDE03B2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6A08FC-B290-2349-B620-F328279D2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12896B-7E8E-FA31-9C1C-D28101017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C014D-DFD0-457B-B766-082C691CB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4448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7017E-2DA9-3377-5751-A7A912D36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2397EC-5CE4-223C-AEED-8D94992F08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7D81FD-D9D5-453E-8117-E0427624D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466D1-AB95-4AC0-92C9-494FDEDE03B2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E99C3B-E038-E8A3-D93A-1344AF5E6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783638-C39C-2F8F-525B-0D2B8FC1A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C014D-DFD0-457B-B766-082C691CB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0453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484CA-077D-CBE4-519E-56A25C8A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2F60E5-A271-C4B1-2C5B-6FF859CE8E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B7AF74-0E5E-8B48-6A41-07C714358F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4E7EE3-25BD-1729-0EB4-41EB98356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466D1-AB95-4AC0-92C9-494FDEDE03B2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6A20A8-3F7A-3245-0E36-F13EC1473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9E2079-7DE6-53B6-946E-5D220C77F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C014D-DFD0-457B-B766-082C691CB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2405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DA03-2870-FD5C-581F-3F6A0A70B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34809C-8887-316C-4DB3-745CCFC3A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B1B0ED-FE93-7304-0E39-B034B30ECC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ECDE07-E1FB-C27E-350C-8E650158A7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C5F2BC-373C-00FD-BAA2-E2E27C3186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EEE410-08AF-3B53-0C31-74D7E53F9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466D1-AB95-4AC0-92C9-494FDEDE03B2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57318E-060F-F18D-8E8A-C09473112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63959D-E8EF-18D7-27E4-B098A1268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C014D-DFD0-457B-B766-082C691CB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1110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981BF-B167-5FE3-B615-3F3014001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E9357B-D44D-36E5-F363-974FF87C1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466D1-AB95-4AC0-92C9-494FDEDE03B2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61BBE-635C-DFB7-B3F8-F8EC5A0EA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B17E27-A0ED-E452-A893-F6D8759D2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C014D-DFD0-457B-B766-082C691CB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5165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6E32A9-AAFA-C7AB-DB6F-D9772507A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466D1-AB95-4AC0-92C9-494FDEDE03B2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7B4FFE-3031-858A-8FBC-1A9573A5A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91EC0-9F73-A94A-2CF0-7846B8B28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C014D-DFD0-457B-B766-082C691CB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35969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5564D-89C5-03D8-D24B-C13975B03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3269D6-34E9-2976-C936-3B432F83C5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4CF20-C56E-A764-6E9D-4B74A4F9EB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B5A355-115D-9DAE-3155-8D457779F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466D1-AB95-4AC0-92C9-494FDEDE03B2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F4DC48-5B52-49A7-ECC8-57509A05A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246BCB-9E16-E8EB-B440-2158E00C8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C014D-DFD0-457B-B766-082C691CB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9299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BE2CE-AD7F-F917-2A84-0943C1265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AFC929-F546-254A-061B-961850C05D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AFA1F6-70D3-1060-CB98-40CA30E289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8BC161-E1C5-5E7B-7246-D78EF3833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466D1-AB95-4AC0-92C9-494FDEDE03B2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9CE770-F514-953F-9E7E-AEC74B84A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5A4051-D95A-08A2-7A1F-903883019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C014D-DFD0-457B-B766-082C691CB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4650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F7C19-A9B1-8EF7-D5D7-5DFEAC9B9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4CA39B-A081-948E-BE2B-3BD8EE58B2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EC821A-3E56-502C-387E-A26730FFA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466D1-AB95-4AC0-92C9-494FDEDE03B2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ED4C0-E2AA-7742-255C-58DAE45CB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DBD1F5-0D60-EDB6-13B2-8146D7AE1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C014D-DFD0-457B-B766-082C691CB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8596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147715-E141-9CE5-B424-5CA142B15E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F8CCDC-084F-9045-290C-4EAD7701E1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AF6962-DBFE-45F4-12A7-09B6CEDF4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466D1-AB95-4AC0-92C9-494FDEDE03B2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826B4A-EE62-F064-DF65-55AD81AE3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A6D4C6-64E4-7D19-4891-151A67492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C014D-DFD0-457B-B766-082C691CB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29367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884908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4805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4456BD-9E1C-A1FA-2CD9-8323C774F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407522-7198-99AD-7444-31DA3D642A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F78C1A-5DA1-D42C-72D5-8533315588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6466D1-AB95-4AC0-92C9-494FDEDE03B2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4B2067-9CB8-56C8-B420-F23EA0524D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720B41-1A08-138D-3CFF-59D03BB4BC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7C014D-DFD0-457B-B766-082C691CB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661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4456BD-9E1C-A1FA-2CD9-8323C774F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407522-7198-99AD-7444-31DA3D642A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F78C1A-5DA1-D42C-72D5-8533315588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6466D1-AB95-4AC0-92C9-494FDEDE03B2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4B2067-9CB8-56C8-B420-F23EA0524D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720B41-1A08-138D-3CFF-59D03BB4BC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7C014D-DFD0-457B-B766-082C691CB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555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4517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hf sldNum="0" hdr="0" ftr="0" dt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octor touching a touch screen&#10;&#10;Description automatically generated">
            <a:extLst>
              <a:ext uri="{FF2B5EF4-FFF2-40B4-BE49-F238E27FC236}">
                <a16:creationId xmlns:a16="http://schemas.microsoft.com/office/drawing/2014/main" id="{7FC348A3-DAEF-039F-BDB8-A36C5D8D4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0D14041-44CB-0909-7320-363B3E47FB45}"/>
              </a:ext>
            </a:extLst>
          </p:cNvPr>
          <p:cNvSpPr txBox="1"/>
          <p:nvPr/>
        </p:nvSpPr>
        <p:spPr>
          <a:xfrm>
            <a:off x="5561428" y="4531844"/>
            <a:ext cx="6874411" cy="1282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733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Project Domain: </a:t>
            </a:r>
            <a:r>
              <a:rPr kumimoji="0" lang="en-US" sz="3733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HealthTech</a:t>
            </a:r>
            <a:endParaRPr kumimoji="0" lang="en-US" sz="2133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Team: </a:t>
            </a:r>
            <a:r>
              <a:rPr kumimoji="0" lang="en-US" sz="16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SummertimeSadness</a:t>
            </a:r>
            <a:endParaRPr kumimoji="0" lang="en-US" sz="16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29675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92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26720" y="121920"/>
            <a:ext cx="609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67" b="0" i="0" u="none" strike="noStrike" kern="0" cap="none" spc="267" normalizeH="0" baseline="0" noProof="0" dirty="0">
                <a:ln>
                  <a:noFill/>
                </a:ln>
                <a:solidFill>
                  <a:srgbClr val="20C4C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r>
              <a:rPr kumimoji="0" lang="en-US" sz="1467" b="0" i="0" u="none" strike="noStrike" kern="0" cap="none" spc="533" normalizeH="0" baseline="0" noProof="0" dirty="0">
                <a:ln>
                  <a:noFill/>
                </a:ln>
                <a:solidFill>
                  <a:srgbClr val="20C4C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  THE PROBLEM · CLINICAL ACCURACY</a:t>
            </a:r>
            <a:endParaRPr kumimoji="0" lang="en-US" sz="146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609600" y="914400"/>
            <a:ext cx="1097280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67" b="1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Clinical Accuracy Failures Putting Patients at Risk</a:t>
            </a:r>
            <a:endParaRPr kumimoji="0" lang="en-US" sz="346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09600" y="2326640"/>
            <a:ext cx="3413760" cy="2584704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9600" y="2326640"/>
            <a:ext cx="67056" cy="2584704"/>
          </a:xfrm>
          <a:prstGeom prst="rect">
            <a:avLst/>
          </a:prstGeom>
          <a:solidFill>
            <a:srgbClr val="E03D3D"/>
          </a:solidFill>
          <a:ln w="12700">
            <a:solidFill>
              <a:srgbClr val="E03D3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792480" y="2546096"/>
            <a:ext cx="31089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33" b="1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Illegible and Incomprehensive Handwritten Prescriptions</a:t>
            </a:r>
            <a:endParaRPr kumimoji="0" lang="en-US" sz="17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792480" y="3021584"/>
            <a:ext cx="3108960" cy="335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67" b="0" i="0" u="none" strike="noStrike" kern="1200" cap="none" spc="0" normalizeH="0" baseline="0" noProof="0" dirty="0">
              <a:ln>
                <a:noFill/>
              </a:ln>
              <a:solidFill>
                <a:srgbClr val="555555"/>
              </a:solidFill>
              <a:effectLst/>
              <a:uLnTx/>
              <a:uFillTx/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67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Unreadable scrawl leads to dangerous dosage errors, pharmacist confusion, and patient harm. </a:t>
            </a:r>
            <a:endParaRPr kumimoji="0" lang="en-US" sz="146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389120" y="2326640"/>
            <a:ext cx="3413760" cy="2584704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389120" y="2326640"/>
            <a:ext cx="67056" cy="258470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572000" y="2546096"/>
            <a:ext cx="31089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33" b="1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Uninterpretable Static Clinical Reports</a:t>
            </a:r>
            <a:endParaRPr kumimoji="0" lang="en-US" sz="17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72000" y="3021584"/>
            <a:ext cx="3108960" cy="335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67" b="0" i="0" u="none" strike="noStrike" kern="1200" cap="none" spc="0" normalizeH="0" baseline="0" noProof="0" dirty="0">
              <a:ln>
                <a:noFill/>
              </a:ln>
              <a:solidFill>
                <a:srgbClr val="555555"/>
              </a:solidFill>
              <a:effectLst/>
              <a:uLnTx/>
              <a:uFillTx/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67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 trend tracking, no historical context — patients receive a number with no meaning. </a:t>
            </a:r>
            <a:endParaRPr kumimoji="0" lang="en-US" sz="146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168640" y="2326640"/>
            <a:ext cx="3413760" cy="2584704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168640" y="2326640"/>
            <a:ext cx="67056" cy="2584704"/>
          </a:xfrm>
          <a:prstGeom prst="rect">
            <a:avLst/>
          </a:prstGeom>
          <a:solidFill>
            <a:srgbClr val="7B5CF5"/>
          </a:solidFill>
          <a:ln w="12700">
            <a:solidFill>
              <a:srgbClr val="7B5CF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351520" y="2546096"/>
            <a:ext cx="31089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33" b="1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Dangerous Polypharmacy Risk From Fragmented Prescribing</a:t>
            </a:r>
            <a:endParaRPr kumimoji="0" lang="en-US" sz="17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351520" y="3021584"/>
            <a:ext cx="3108960" cy="335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67" b="0" i="0" u="none" strike="noStrike" kern="1200" cap="none" spc="0" normalizeH="0" baseline="0" noProof="0" dirty="0">
              <a:ln>
                <a:noFill/>
              </a:ln>
              <a:solidFill>
                <a:srgbClr val="555555"/>
              </a:solidFill>
              <a:effectLst/>
              <a:uLnTx/>
              <a:uFillTx/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67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Multiple providers prescribing independently with no unified safeguard. Critical drug-drug interactions go undetected until a patient is hospitalized.</a:t>
            </a:r>
            <a:endParaRPr kumimoji="0" lang="en-US" sz="146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0" y="6339840"/>
            <a:ext cx="12192000" cy="51816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65760" y="6364224"/>
            <a:ext cx="1146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33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⚠  Clinical errors from these gaps kill patients silently — every day, across the country.</a:t>
            </a:r>
            <a:endParaRPr kumimoji="0" lang="en-US" sz="15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92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26720" y="121920"/>
            <a:ext cx="609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67" b="0" i="0" u="none" strike="noStrike" kern="0" cap="none" spc="267" normalizeH="0" baseline="0" noProof="0" dirty="0">
                <a:ln>
                  <a:noFill/>
                </a:ln>
                <a:solidFill>
                  <a:srgbClr val="20C4C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r>
              <a:rPr kumimoji="0" lang="en-US" sz="1467" b="0" i="0" u="none" strike="noStrike" kern="0" cap="none" spc="533" normalizeH="0" baseline="0" noProof="0" dirty="0">
                <a:ln>
                  <a:noFill/>
                </a:ln>
                <a:solidFill>
                  <a:srgbClr val="20C4C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  THE PROBLEM · HEALTHCARE SYSTEM</a:t>
            </a:r>
            <a:endParaRPr kumimoji="0" lang="en-US" sz="146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609600" y="914400"/>
            <a:ext cx="1097280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67" b="1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Systemic Healthcare Failures in Developing Countries</a:t>
            </a:r>
            <a:endParaRPr kumimoji="0" lang="en-US" sz="346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09600" y="1950720"/>
            <a:ext cx="5364480" cy="1676400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9600" y="1950720"/>
            <a:ext cx="67056" cy="1676400"/>
          </a:xfrm>
          <a:prstGeom prst="rect">
            <a:avLst/>
          </a:prstGeom>
          <a:solidFill>
            <a:srgbClr val="E03D3D"/>
          </a:solidFill>
          <a:ln w="12700">
            <a:solidFill>
              <a:srgbClr val="E03D3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792480" y="2170176"/>
            <a:ext cx="50596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33" b="1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Critically Low Doctor-to-Patient Ratio</a:t>
            </a:r>
            <a:endParaRPr kumimoji="0" lang="en-US" sz="17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792480" y="2645664"/>
            <a:ext cx="5059680" cy="1304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67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Rural patients receive zero guidance on prescriptions, lab reports, or symptoms. The nearest qualified doctor may be hours away.</a:t>
            </a:r>
            <a:endParaRPr kumimoji="0" lang="en-US" sz="146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217920" y="1950720"/>
            <a:ext cx="5364480" cy="1676400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217920" y="1950720"/>
            <a:ext cx="67056" cy="16764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00800" y="2170176"/>
            <a:ext cx="50596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33" b="1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Lack of Central Patient Health Database</a:t>
            </a:r>
            <a:endParaRPr kumimoji="0" lang="en-US" sz="17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00800" y="2645664"/>
            <a:ext cx="5059680" cy="1304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67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health record system means every visit starts from scratch. Doctors cannot see prior diagnoses, medications, or allergies — leading to redundant and dangerous decisions.</a:t>
            </a:r>
            <a:endParaRPr kumimoji="0" lang="en-US" sz="146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09600" y="4291584"/>
            <a:ext cx="5364480" cy="1676400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09600" y="4291584"/>
            <a:ext cx="67056" cy="16764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92480" y="4511040"/>
            <a:ext cx="50596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33" b="1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Unregulated Self-Medication via OTC Dispensaries</a:t>
            </a:r>
            <a:endParaRPr kumimoji="0" lang="en-US" sz="17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92480" y="4986528"/>
            <a:ext cx="5059680" cy="1304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67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Patients routinely self-prescribe antibiotics, steroids, and painkillers from unlicensed pharmacies — contributing to antimicrobial resistance and organ damage.</a:t>
            </a:r>
            <a:endParaRPr kumimoji="0" lang="en-US" sz="146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217920" y="4291584"/>
            <a:ext cx="5364480" cy="1676400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217920" y="4291584"/>
            <a:ext cx="67056" cy="1676400"/>
          </a:xfrm>
          <a:prstGeom prst="rect">
            <a:avLst/>
          </a:prstGeom>
          <a:solidFill>
            <a:srgbClr val="7B5CF5"/>
          </a:solidFill>
          <a:ln w="12700">
            <a:solidFill>
              <a:srgbClr val="7B5CF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00800" y="4511040"/>
            <a:ext cx="50596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33" b="1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Broken Doctor Discovery &amp; Appointment System</a:t>
            </a:r>
          </a:p>
        </p:txBody>
      </p:sp>
      <p:sp>
        <p:nvSpPr>
          <p:cNvPr id="20" name="Text 18"/>
          <p:cNvSpPr/>
          <p:nvPr/>
        </p:nvSpPr>
        <p:spPr>
          <a:xfrm>
            <a:off x="6400800" y="4986528"/>
            <a:ext cx="5059680" cy="1304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67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Finding a qualified specialist is done by word-of-mouth. No verified directory, no appointment management, no way to know who to trust.</a:t>
            </a:r>
            <a:endParaRPr kumimoji="0" lang="en-US" sz="146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0" y="6339840"/>
            <a:ext cx="12192000" cy="51816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65760" y="6364224"/>
            <a:ext cx="1146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33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⚠  Broken healthcare system poses severe risk on public health.</a:t>
            </a:r>
            <a:endParaRPr kumimoji="0" lang="en-US" sz="15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92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26720" y="121920"/>
            <a:ext cx="609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67" b="0" i="0" u="none" strike="noStrike" kern="0" cap="none" spc="267" normalizeH="0" baseline="0" noProof="0" dirty="0">
                <a:ln>
                  <a:noFill/>
                </a:ln>
                <a:solidFill>
                  <a:srgbClr val="20C4C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r>
              <a:rPr kumimoji="0" lang="en-US" sz="1467" b="0" i="0" u="none" strike="noStrike" kern="0" cap="none" spc="533" normalizeH="0" baseline="0" noProof="0" dirty="0">
                <a:ln>
                  <a:noFill/>
                </a:ln>
                <a:solidFill>
                  <a:srgbClr val="20C4C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  THE PROBLEM</a:t>
            </a:r>
            <a:endParaRPr kumimoji="0" lang="en-US" sz="146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944880" y="4001025"/>
            <a:ext cx="3413760" cy="681135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944880" y="4001025"/>
            <a:ext cx="67056" cy="681135"/>
          </a:xfrm>
          <a:prstGeom prst="rect">
            <a:avLst/>
          </a:prstGeom>
          <a:solidFill>
            <a:srgbClr val="E03D3D"/>
          </a:solidFill>
          <a:ln w="12700">
            <a:solidFill>
              <a:srgbClr val="E03D3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27760" y="4059298"/>
            <a:ext cx="3219796" cy="17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33" b="1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Critically Low Doctor-to-Patient Ratio</a:t>
            </a:r>
            <a:endParaRPr kumimoji="0" lang="en-US" sz="17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772400" y="4001025"/>
            <a:ext cx="3413760" cy="681135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772400" y="4001025"/>
            <a:ext cx="67056" cy="681135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955280" y="4059298"/>
            <a:ext cx="3219796" cy="17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33" b="1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Lack of Central Patient Health Database</a:t>
            </a:r>
            <a:endParaRPr kumimoji="0" lang="en-US" sz="17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353066" y="5146324"/>
            <a:ext cx="3413760" cy="681135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353066" y="5146324"/>
            <a:ext cx="67056" cy="681135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535946" y="5204597"/>
            <a:ext cx="3219796" cy="17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33" b="1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Unregulated Self-Medication via OTC Dispensaries</a:t>
            </a:r>
            <a:endParaRPr kumimoji="0" lang="en-US" sz="17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662794" y="5165362"/>
            <a:ext cx="3413760" cy="681135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662794" y="5165362"/>
            <a:ext cx="67056" cy="681135"/>
          </a:xfrm>
          <a:prstGeom prst="rect">
            <a:avLst/>
          </a:prstGeom>
          <a:solidFill>
            <a:srgbClr val="7B5CF5"/>
          </a:solidFill>
          <a:ln w="12700">
            <a:solidFill>
              <a:srgbClr val="7B5CF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845674" y="5223635"/>
            <a:ext cx="3219796" cy="17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33" b="1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Broken Doctor Discovery &amp; Appointment System</a:t>
            </a:r>
          </a:p>
        </p:txBody>
      </p:sp>
      <p:sp>
        <p:nvSpPr>
          <p:cNvPr id="23" name="Shape 3">
            <a:extLst>
              <a:ext uri="{FF2B5EF4-FFF2-40B4-BE49-F238E27FC236}">
                <a16:creationId xmlns:a16="http://schemas.microsoft.com/office/drawing/2014/main" id="{C9C737F3-3472-BC02-3EE4-6770802C629D}"/>
              </a:ext>
            </a:extLst>
          </p:cNvPr>
          <p:cNvSpPr/>
          <p:nvPr/>
        </p:nvSpPr>
        <p:spPr>
          <a:xfrm>
            <a:off x="615706" y="2422276"/>
            <a:ext cx="3413760" cy="681135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Shape 4">
            <a:extLst>
              <a:ext uri="{FF2B5EF4-FFF2-40B4-BE49-F238E27FC236}">
                <a16:creationId xmlns:a16="http://schemas.microsoft.com/office/drawing/2014/main" id="{9AFEA67F-C6ED-C417-0961-5A983361D2A0}"/>
              </a:ext>
            </a:extLst>
          </p:cNvPr>
          <p:cNvSpPr/>
          <p:nvPr/>
        </p:nvSpPr>
        <p:spPr>
          <a:xfrm>
            <a:off x="615706" y="2422276"/>
            <a:ext cx="67056" cy="681135"/>
          </a:xfrm>
          <a:prstGeom prst="rect">
            <a:avLst/>
          </a:prstGeom>
          <a:solidFill>
            <a:srgbClr val="E03D3D"/>
          </a:solidFill>
          <a:ln w="12700">
            <a:solidFill>
              <a:srgbClr val="E03D3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Text 5">
            <a:extLst>
              <a:ext uri="{FF2B5EF4-FFF2-40B4-BE49-F238E27FC236}">
                <a16:creationId xmlns:a16="http://schemas.microsoft.com/office/drawing/2014/main" id="{E3676848-0935-3B7A-7E1B-92A92F0837AF}"/>
              </a:ext>
            </a:extLst>
          </p:cNvPr>
          <p:cNvSpPr/>
          <p:nvPr/>
        </p:nvSpPr>
        <p:spPr>
          <a:xfrm>
            <a:off x="798586" y="2480549"/>
            <a:ext cx="3108960" cy="17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33" b="1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Illegible and Incomprehensive Handwritten Prescriptions</a:t>
            </a:r>
            <a:endParaRPr kumimoji="0" lang="en-US" sz="17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6" name="Shape 7">
            <a:extLst>
              <a:ext uri="{FF2B5EF4-FFF2-40B4-BE49-F238E27FC236}">
                <a16:creationId xmlns:a16="http://schemas.microsoft.com/office/drawing/2014/main" id="{1D9224A7-38EE-A928-B679-029C9649C701}"/>
              </a:ext>
            </a:extLst>
          </p:cNvPr>
          <p:cNvSpPr/>
          <p:nvPr/>
        </p:nvSpPr>
        <p:spPr>
          <a:xfrm>
            <a:off x="4358640" y="1389832"/>
            <a:ext cx="3413760" cy="681135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7" name="Shape 8">
            <a:extLst>
              <a:ext uri="{FF2B5EF4-FFF2-40B4-BE49-F238E27FC236}">
                <a16:creationId xmlns:a16="http://schemas.microsoft.com/office/drawing/2014/main" id="{002609F8-7E39-655F-A907-760BB3DF8215}"/>
              </a:ext>
            </a:extLst>
          </p:cNvPr>
          <p:cNvSpPr/>
          <p:nvPr/>
        </p:nvSpPr>
        <p:spPr>
          <a:xfrm>
            <a:off x="4358640" y="1389832"/>
            <a:ext cx="67056" cy="681135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8" name="Text 9">
            <a:extLst>
              <a:ext uri="{FF2B5EF4-FFF2-40B4-BE49-F238E27FC236}">
                <a16:creationId xmlns:a16="http://schemas.microsoft.com/office/drawing/2014/main" id="{6C3F7CA9-AA78-C3AE-50EF-34E390197C4F}"/>
              </a:ext>
            </a:extLst>
          </p:cNvPr>
          <p:cNvSpPr/>
          <p:nvPr/>
        </p:nvSpPr>
        <p:spPr>
          <a:xfrm>
            <a:off x="4541520" y="1448105"/>
            <a:ext cx="3108960" cy="17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33" b="1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Uninterpretable Static Clinical Reports</a:t>
            </a:r>
            <a:endParaRPr kumimoji="0" lang="en-US" sz="17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9" name="Shape 11">
            <a:extLst>
              <a:ext uri="{FF2B5EF4-FFF2-40B4-BE49-F238E27FC236}">
                <a16:creationId xmlns:a16="http://schemas.microsoft.com/office/drawing/2014/main" id="{92DDCCD0-8FFC-FE6A-1108-0DA477ADBD1F}"/>
              </a:ext>
            </a:extLst>
          </p:cNvPr>
          <p:cNvSpPr/>
          <p:nvPr/>
        </p:nvSpPr>
        <p:spPr>
          <a:xfrm>
            <a:off x="8100837" y="2422276"/>
            <a:ext cx="3413760" cy="681135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0" name="Shape 12">
            <a:extLst>
              <a:ext uri="{FF2B5EF4-FFF2-40B4-BE49-F238E27FC236}">
                <a16:creationId xmlns:a16="http://schemas.microsoft.com/office/drawing/2014/main" id="{4536F3AB-AC8D-601F-ED92-441ECBEC7BE5}"/>
              </a:ext>
            </a:extLst>
          </p:cNvPr>
          <p:cNvSpPr/>
          <p:nvPr/>
        </p:nvSpPr>
        <p:spPr>
          <a:xfrm>
            <a:off x="8100837" y="2422276"/>
            <a:ext cx="67056" cy="681135"/>
          </a:xfrm>
          <a:prstGeom prst="rect">
            <a:avLst/>
          </a:prstGeom>
          <a:solidFill>
            <a:srgbClr val="7B5CF5"/>
          </a:solidFill>
          <a:ln w="12700">
            <a:solidFill>
              <a:srgbClr val="7B5CF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1" name="Text 13">
            <a:extLst>
              <a:ext uri="{FF2B5EF4-FFF2-40B4-BE49-F238E27FC236}">
                <a16:creationId xmlns:a16="http://schemas.microsoft.com/office/drawing/2014/main" id="{2774E73F-B0D8-A13A-645F-809559660421}"/>
              </a:ext>
            </a:extLst>
          </p:cNvPr>
          <p:cNvSpPr/>
          <p:nvPr/>
        </p:nvSpPr>
        <p:spPr>
          <a:xfrm>
            <a:off x="8283717" y="2480549"/>
            <a:ext cx="3108960" cy="17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33" b="1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Dangerous Polypharmacy Risk From Fragmented Prescribing</a:t>
            </a:r>
            <a:endParaRPr kumimoji="0" lang="en-US" sz="17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C4E8B0A-F2F4-DD29-9943-D8B6D9A8866E}"/>
              </a:ext>
            </a:extLst>
          </p:cNvPr>
          <p:cNvSpPr/>
          <p:nvPr/>
        </p:nvSpPr>
        <p:spPr>
          <a:xfrm>
            <a:off x="4541520" y="2876879"/>
            <a:ext cx="3043645" cy="97038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Public Health Risk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6085596-A12E-337C-7257-EC5CA11A7652}"/>
              </a:ext>
            </a:extLst>
          </p:cNvPr>
          <p:cNvCxnSpPr>
            <a:stCxn id="26" idx="2"/>
            <a:endCxn id="33" idx="0"/>
          </p:cNvCxnSpPr>
          <p:nvPr/>
        </p:nvCxnSpPr>
        <p:spPr>
          <a:xfrm flipH="1">
            <a:off x="6063343" y="2070967"/>
            <a:ext cx="2177" cy="8059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4ED99DD-330F-DFE6-3B32-78B6542AB731}"/>
              </a:ext>
            </a:extLst>
          </p:cNvPr>
          <p:cNvCxnSpPr>
            <a:stCxn id="23" idx="3"/>
            <a:endCxn id="33" idx="1"/>
          </p:cNvCxnSpPr>
          <p:nvPr/>
        </p:nvCxnSpPr>
        <p:spPr>
          <a:xfrm>
            <a:off x="4029466" y="2762844"/>
            <a:ext cx="957785" cy="2561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E55F1D2-226E-CC64-500D-844042DD8B84}"/>
              </a:ext>
            </a:extLst>
          </p:cNvPr>
          <p:cNvCxnSpPr>
            <a:stCxn id="30" idx="1"/>
            <a:endCxn id="33" idx="7"/>
          </p:cNvCxnSpPr>
          <p:nvPr/>
        </p:nvCxnSpPr>
        <p:spPr>
          <a:xfrm flipH="1">
            <a:off x="7139434" y="2762844"/>
            <a:ext cx="961403" cy="2561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9C6E953-B0ED-DED4-3A1A-B068D9AD12C0}"/>
              </a:ext>
            </a:extLst>
          </p:cNvPr>
          <p:cNvCxnSpPr>
            <a:stCxn id="5" idx="3"/>
            <a:endCxn id="33" idx="3"/>
          </p:cNvCxnSpPr>
          <p:nvPr/>
        </p:nvCxnSpPr>
        <p:spPr>
          <a:xfrm flipV="1">
            <a:off x="4358640" y="3705154"/>
            <a:ext cx="628611" cy="6364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D90623C8-C8EE-D4D1-FC44-F49C301A7B9E}"/>
              </a:ext>
            </a:extLst>
          </p:cNvPr>
          <p:cNvCxnSpPr>
            <a:stCxn id="10" idx="1"/>
            <a:endCxn id="33" idx="5"/>
          </p:cNvCxnSpPr>
          <p:nvPr/>
        </p:nvCxnSpPr>
        <p:spPr>
          <a:xfrm flipH="1" flipV="1">
            <a:off x="7139434" y="3705154"/>
            <a:ext cx="632966" cy="6364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95E863F-0116-A63F-4EB0-0F23BCB47162}"/>
              </a:ext>
            </a:extLst>
          </p:cNvPr>
          <p:cNvCxnSpPr>
            <a:cxnSpLocks/>
          </p:cNvCxnSpPr>
          <p:nvPr/>
        </p:nvCxnSpPr>
        <p:spPr>
          <a:xfrm flipV="1">
            <a:off x="5103450" y="3847263"/>
            <a:ext cx="541570" cy="12990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65A38FA-B591-4409-9114-460AA3A53AC7}"/>
              </a:ext>
            </a:extLst>
          </p:cNvPr>
          <p:cNvCxnSpPr>
            <a:cxnSpLocks/>
          </p:cNvCxnSpPr>
          <p:nvPr/>
        </p:nvCxnSpPr>
        <p:spPr>
          <a:xfrm flipH="1" flipV="1">
            <a:off x="6522720" y="3847263"/>
            <a:ext cx="756774" cy="13180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41101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92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26720" y="121920"/>
            <a:ext cx="609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67" b="0" i="0" u="none" strike="noStrike" kern="0" cap="none" spc="267" normalizeH="0" baseline="0" noProof="0" dirty="0">
                <a:ln>
                  <a:noFill/>
                </a:ln>
                <a:solidFill>
                  <a:srgbClr val="20C4C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r>
              <a:rPr kumimoji="0" lang="en-US" sz="1467" b="0" i="0" u="none" strike="noStrike" kern="0" cap="none" spc="533" normalizeH="0" baseline="0" noProof="0" dirty="0">
                <a:ln>
                  <a:noFill/>
                </a:ln>
                <a:solidFill>
                  <a:srgbClr val="20C4C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  THE GAP</a:t>
            </a:r>
            <a:endParaRPr kumimoji="0" lang="en-US" sz="146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09600" y="914400"/>
            <a:ext cx="73152" cy="463296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9056" y="914400"/>
            <a:ext cx="42672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33" b="1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Who Is Affected?</a:t>
            </a:r>
            <a:endParaRPr kumimoji="0" lang="en-US" sz="21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278880" y="914400"/>
            <a:ext cx="73152" cy="463296"/>
          </a:xfrm>
          <a:prstGeom prst="rect">
            <a:avLst/>
          </a:prstGeom>
          <a:solidFill>
            <a:srgbClr val="E03D3D"/>
          </a:solidFill>
          <a:ln w="12700">
            <a:solidFill>
              <a:srgbClr val="E03D3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98336" y="914400"/>
            <a:ext cx="51206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33" b="1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Why Existing Solutions Fail</a:t>
            </a:r>
            <a:endParaRPr kumimoji="0" lang="en-US" sz="21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09600" y="1438656"/>
            <a:ext cx="5242560" cy="1024128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480" y="1658112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02080" y="1621536"/>
            <a:ext cx="426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Low-Literacy Rural Patient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92480" y="204622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Cannot read handwritten Rx or understand lab values. No digital health tools.</a:t>
            </a:r>
            <a:endParaRPr kumimoji="0" lang="en-US" sz="13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609600" y="2523744"/>
            <a:ext cx="5242560" cy="1024128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80" y="274320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02080" y="2706624"/>
            <a:ext cx="426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Rural Health Worker / Doctor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792480" y="313131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Limited specialist support. Struggles with complex reports and polypharmacy edge cases.</a:t>
            </a:r>
            <a:endParaRPr kumimoji="0" lang="en-US" sz="13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609600" y="3608832"/>
            <a:ext cx="5242560" cy="1024128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480" y="3828288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02080" y="3791712"/>
            <a:ext cx="426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Family Caregiver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792480" y="42164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Managing elderly parent's chronic conditions across multiple providers with no unified view.</a:t>
            </a:r>
            <a:endParaRPr kumimoji="0" lang="en-US" sz="13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Shape 15"/>
          <p:cNvSpPr/>
          <p:nvPr/>
        </p:nvSpPr>
        <p:spPr>
          <a:xfrm>
            <a:off x="609600" y="4693920"/>
            <a:ext cx="5242560" cy="1024128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2480" y="4913376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02080" y="4876800"/>
            <a:ext cx="426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Self-Medicating Patient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792480" y="530148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Buying antibiotics and steroids OTC without prescription, risking resistance and organ damage.</a:t>
            </a:r>
            <a:endParaRPr kumimoji="0" lang="en-US" sz="13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Shape 18"/>
          <p:cNvSpPr/>
          <p:nvPr/>
        </p:nvSpPr>
        <p:spPr>
          <a:xfrm>
            <a:off x="609600" y="5779008"/>
            <a:ext cx="5242560" cy="1024128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2480" y="5998464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402080" y="5961888"/>
            <a:ext cx="426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Urban Patient with Multiple Doctors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7" name="Text 20"/>
          <p:cNvSpPr/>
          <p:nvPr/>
        </p:nvSpPr>
        <p:spPr>
          <a:xfrm>
            <a:off x="792480" y="638657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Seeing 3–5 specialists with no shared record — every doctor prescribes blind to the others.</a:t>
            </a:r>
            <a:endParaRPr kumimoji="0" lang="en-US" sz="13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8" name="Shape 21"/>
          <p:cNvSpPr/>
          <p:nvPr/>
        </p:nvSpPr>
        <p:spPr>
          <a:xfrm>
            <a:off x="6278880" y="1438656"/>
            <a:ext cx="5242560" cy="1024128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9" name="Shape 22"/>
          <p:cNvSpPr/>
          <p:nvPr/>
        </p:nvSpPr>
        <p:spPr>
          <a:xfrm>
            <a:off x="6437376" y="1670304"/>
            <a:ext cx="560832" cy="560832"/>
          </a:xfrm>
          <a:prstGeom prst="ellipse">
            <a:avLst/>
          </a:prstGeom>
          <a:solidFill>
            <a:srgbClr val="E03D3D"/>
          </a:solidFill>
          <a:ln w="12700">
            <a:solidFill>
              <a:srgbClr val="E03D3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0" name="Text 23"/>
          <p:cNvSpPr/>
          <p:nvPr/>
        </p:nvSpPr>
        <p:spPr>
          <a:xfrm>
            <a:off x="6437376" y="1670304"/>
            <a:ext cx="560832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33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kumimoji="0" lang="en-US" sz="17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1" name="Text 24"/>
          <p:cNvSpPr/>
          <p:nvPr/>
        </p:nvSpPr>
        <p:spPr>
          <a:xfrm>
            <a:off x="7156704" y="1597152"/>
            <a:ext cx="4242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✕  Generic Health Apps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2" name="Text 25"/>
          <p:cNvSpPr/>
          <p:nvPr/>
        </p:nvSpPr>
        <p:spPr>
          <a:xfrm>
            <a:off x="7156704" y="1987296"/>
            <a:ext cx="4242816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Static information only. No personalized analysis, no patient history, no clinical grounding.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3" name="Shape 26"/>
          <p:cNvSpPr/>
          <p:nvPr/>
        </p:nvSpPr>
        <p:spPr>
          <a:xfrm>
            <a:off x="6278880" y="2523744"/>
            <a:ext cx="5242560" cy="1024128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4" name="Shape 27"/>
          <p:cNvSpPr/>
          <p:nvPr/>
        </p:nvSpPr>
        <p:spPr>
          <a:xfrm>
            <a:off x="6437376" y="2755392"/>
            <a:ext cx="560832" cy="560832"/>
          </a:xfrm>
          <a:prstGeom prst="ellipse">
            <a:avLst/>
          </a:prstGeom>
          <a:solidFill>
            <a:srgbClr val="E03D3D"/>
          </a:solidFill>
          <a:ln w="12700">
            <a:solidFill>
              <a:srgbClr val="E03D3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5" name="Text 28"/>
          <p:cNvSpPr/>
          <p:nvPr/>
        </p:nvSpPr>
        <p:spPr>
          <a:xfrm>
            <a:off x="6437376" y="2755392"/>
            <a:ext cx="560832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33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kumimoji="0" lang="en-US" sz="17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6" name="Text 29"/>
          <p:cNvSpPr/>
          <p:nvPr/>
        </p:nvSpPr>
        <p:spPr>
          <a:xfrm>
            <a:off x="7156704" y="2682240"/>
            <a:ext cx="4242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✕  Traditional OCR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7" name="Text 30"/>
          <p:cNvSpPr/>
          <p:nvPr/>
        </p:nvSpPr>
        <p:spPr>
          <a:xfrm>
            <a:off x="7156704" y="3072384"/>
            <a:ext cx="4242816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Fails on doctors' handwriting. Cannot interpret medical abbreviations or context-sensitive dosages.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8" name="Shape 31"/>
          <p:cNvSpPr/>
          <p:nvPr/>
        </p:nvSpPr>
        <p:spPr>
          <a:xfrm>
            <a:off x="6278880" y="3608832"/>
            <a:ext cx="5242560" cy="1024128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9" name="Shape 32"/>
          <p:cNvSpPr/>
          <p:nvPr/>
        </p:nvSpPr>
        <p:spPr>
          <a:xfrm>
            <a:off x="6437376" y="3840480"/>
            <a:ext cx="560832" cy="560832"/>
          </a:xfrm>
          <a:prstGeom prst="ellipse">
            <a:avLst/>
          </a:prstGeom>
          <a:solidFill>
            <a:srgbClr val="E03D3D"/>
          </a:solidFill>
          <a:ln w="12700">
            <a:solidFill>
              <a:srgbClr val="E03D3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0" name="Text 33"/>
          <p:cNvSpPr/>
          <p:nvPr/>
        </p:nvSpPr>
        <p:spPr>
          <a:xfrm>
            <a:off x="6437376" y="3840480"/>
            <a:ext cx="560832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33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kumimoji="0" lang="en-US" sz="17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1" name="Text 34"/>
          <p:cNvSpPr/>
          <p:nvPr/>
        </p:nvSpPr>
        <p:spPr>
          <a:xfrm>
            <a:off x="7156704" y="3767328"/>
            <a:ext cx="4242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✕  Online Search (Google)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2" name="Text 35"/>
          <p:cNvSpPr/>
          <p:nvPr/>
        </p:nvSpPr>
        <p:spPr>
          <a:xfrm>
            <a:off x="7156704" y="4157472"/>
            <a:ext cx="4242816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Overwhelming, conflicting results. Zero personalization, zero safety guardrails.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3" name="Shape 36"/>
          <p:cNvSpPr/>
          <p:nvPr/>
        </p:nvSpPr>
        <p:spPr>
          <a:xfrm>
            <a:off x="6278880" y="4693920"/>
            <a:ext cx="5242560" cy="1024128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4" name="Shape 37"/>
          <p:cNvSpPr/>
          <p:nvPr/>
        </p:nvSpPr>
        <p:spPr>
          <a:xfrm>
            <a:off x="6437376" y="4925568"/>
            <a:ext cx="560832" cy="560832"/>
          </a:xfrm>
          <a:prstGeom prst="ellipse">
            <a:avLst/>
          </a:prstGeom>
          <a:solidFill>
            <a:srgbClr val="E03D3D"/>
          </a:solidFill>
          <a:ln w="12700">
            <a:solidFill>
              <a:srgbClr val="E03D3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5" name="Text 38"/>
          <p:cNvSpPr/>
          <p:nvPr/>
        </p:nvSpPr>
        <p:spPr>
          <a:xfrm>
            <a:off x="6437376" y="4925568"/>
            <a:ext cx="560832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33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kumimoji="0" lang="en-US" sz="17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6" name="Text 39"/>
          <p:cNvSpPr/>
          <p:nvPr/>
        </p:nvSpPr>
        <p:spPr>
          <a:xfrm>
            <a:off x="7156704" y="4852416"/>
            <a:ext cx="4242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✕  Hospital EMR Systems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7" name="Text 40"/>
          <p:cNvSpPr/>
          <p:nvPr/>
        </p:nvSpPr>
        <p:spPr>
          <a:xfrm>
            <a:off x="7156704" y="5242560"/>
            <a:ext cx="4242816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Doctor-facing, not patient-accessible. Patients leave with no usable data or understanding.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8" name="Shape 41"/>
          <p:cNvSpPr/>
          <p:nvPr/>
        </p:nvSpPr>
        <p:spPr>
          <a:xfrm>
            <a:off x="6278880" y="5779008"/>
            <a:ext cx="5242560" cy="1024128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9" name="Shape 42"/>
          <p:cNvSpPr/>
          <p:nvPr/>
        </p:nvSpPr>
        <p:spPr>
          <a:xfrm>
            <a:off x="6437376" y="6010656"/>
            <a:ext cx="560832" cy="560832"/>
          </a:xfrm>
          <a:prstGeom prst="ellipse">
            <a:avLst/>
          </a:prstGeom>
          <a:solidFill>
            <a:srgbClr val="E03D3D"/>
          </a:solidFill>
          <a:ln w="12700">
            <a:solidFill>
              <a:srgbClr val="E03D3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0" name="Text 43"/>
          <p:cNvSpPr/>
          <p:nvPr/>
        </p:nvSpPr>
        <p:spPr>
          <a:xfrm>
            <a:off x="6437376" y="6010656"/>
            <a:ext cx="560832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33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kumimoji="0" lang="en-US" sz="17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1" name="Text 44"/>
          <p:cNvSpPr/>
          <p:nvPr/>
        </p:nvSpPr>
        <p:spPr>
          <a:xfrm>
            <a:off x="7156704" y="5937504"/>
            <a:ext cx="4242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✕  Standalone Telemedicine Apps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2" name="Text 45"/>
          <p:cNvSpPr/>
          <p:nvPr/>
        </p:nvSpPr>
        <p:spPr>
          <a:xfrm>
            <a:off x="7156704" y="6327648"/>
            <a:ext cx="4242816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 post-consultation continuity. Prescriptions issued but never tracked, filled, or understood.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400" normalizeH="0" baseline="0" noProof="0" dirty="0">
                <a:ln>
                  <a:noFill/>
                </a:ln>
                <a:solidFill>
                  <a:srgbClr val="00C9C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02   THE COST OF INACTION · SYSTEM FAILURES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456216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Bangladesh's Healthcare Is Breaking — Silently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023144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8BA3B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Evidence-backed failures that demand a systemic response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144534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300" normalizeH="0" baseline="0" noProof="0" dirty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SYSTEM FAILURES  —  REAL EVIDENCE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65760" y="1905983"/>
            <a:ext cx="5486400" cy="914400"/>
          </a:xfrm>
          <a:prstGeom prst="roundRect">
            <a:avLst>
              <a:gd name="adj" fmla="val 6000"/>
            </a:avLst>
          </a:prstGeom>
          <a:solidFill>
            <a:srgbClr val="162032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07151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1979135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 Central Health Database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005840" y="2235167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8EDF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2023–24 Measles Outbreak: DGHS could not forecast vaccine demand → 1.4M children missed scheduled doses due to supply failure.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005840" y="2637503"/>
            <a:ext cx="4663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1" u="none" strike="noStrike" kern="1200" cap="none" spc="0" normalizeH="0" baseline="0" noProof="0" dirty="0">
                <a:ln>
                  <a:noFill/>
                </a:ln>
                <a:solidFill>
                  <a:srgbClr val="8BA3B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Source: WHO Bangladesh Field Report, 2024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65760" y="2957543"/>
            <a:ext cx="5486400" cy="914400"/>
          </a:xfrm>
          <a:prstGeom prst="roundRect">
            <a:avLst>
              <a:gd name="adj" fmla="val 6000"/>
            </a:avLst>
          </a:prstGeom>
          <a:solidFill>
            <a:srgbClr val="162032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158711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05840" y="3030695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80%+ Prescriptions Are Handwritten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1005840" y="3286727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8EDF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DGFDA audit: 23% of all dispensing errors traced directly to illegible prescriptions. No digital safety net in place.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1005840" y="3689063"/>
            <a:ext cx="4663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1" u="none" strike="noStrike" kern="1200" cap="none" spc="0" normalizeH="0" baseline="0" noProof="0" dirty="0">
                <a:ln>
                  <a:noFill/>
                </a:ln>
                <a:solidFill>
                  <a:srgbClr val="8BA3B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Source: DGFDA Annual Drug Safety Report, 2023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365760" y="4009103"/>
            <a:ext cx="5486400" cy="914400"/>
          </a:xfrm>
          <a:prstGeom prst="roundRect">
            <a:avLst>
              <a:gd name="adj" fmla="val 6000"/>
            </a:avLst>
          </a:prstGeom>
          <a:solidFill>
            <a:srgbClr val="162032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210271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05840" y="4082255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Critical Doctor Shortage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1005840" y="4338287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8EDF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Bangladesh has only 0.67 doctors per 1,000 people — well below the WHO minimum threshold of 1.0. One of Asia's lowest ratios.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1005840" y="4740623"/>
            <a:ext cx="4663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1" u="none" strike="noStrike" kern="1200" cap="none" spc="0" normalizeH="0" baseline="0" noProof="0" dirty="0">
                <a:ln>
                  <a:noFill/>
                </a:ln>
                <a:solidFill>
                  <a:srgbClr val="8BA3B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Source: WHO Global Health Observatory, 2024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17"/>
          <p:cNvSpPr/>
          <p:nvPr/>
        </p:nvSpPr>
        <p:spPr>
          <a:xfrm>
            <a:off x="365760" y="5060663"/>
            <a:ext cx="5486400" cy="914400"/>
          </a:xfrm>
          <a:prstGeom prst="roundRect">
            <a:avLst>
              <a:gd name="adj" fmla="val 6000"/>
            </a:avLst>
          </a:prstGeom>
          <a:solidFill>
            <a:srgbClr val="162032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5261831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05840" y="5133815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Every Hospital is an Island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19"/>
          <p:cNvSpPr/>
          <p:nvPr/>
        </p:nvSpPr>
        <p:spPr>
          <a:xfrm>
            <a:off x="1005840" y="5389847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8EDF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Zero interoperability between facilities. Every visit starts from zero — repeat tests, lost histories, dangerous information gaps.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0"/>
          <p:cNvSpPr/>
          <p:nvPr/>
        </p:nvSpPr>
        <p:spPr>
          <a:xfrm>
            <a:off x="1005840" y="5792183"/>
            <a:ext cx="4663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1" u="none" strike="noStrike" kern="1200" cap="none" spc="0" normalizeH="0" baseline="0" noProof="0" dirty="0">
                <a:ln>
                  <a:noFill/>
                </a:ln>
                <a:solidFill>
                  <a:srgbClr val="8BA3B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Source: MoHFW Bangladesh Health System Assessment, 2023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1"/>
          <p:cNvSpPr/>
          <p:nvPr/>
        </p:nvSpPr>
        <p:spPr>
          <a:xfrm>
            <a:off x="6309360" y="144534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300" normalizeH="0" baseline="0" noProof="0" dirty="0">
                <a:ln>
                  <a:noFill/>
                </a:ln>
                <a:solidFill>
                  <a:srgbClr val="E6394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WHAT THIS ACTUALLY COSTS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2"/>
          <p:cNvSpPr/>
          <p:nvPr/>
        </p:nvSpPr>
        <p:spPr>
          <a:xfrm>
            <a:off x="6263640" y="1905983"/>
            <a:ext cx="5486400" cy="914400"/>
          </a:xfrm>
          <a:prstGeom prst="roundRect">
            <a:avLst>
              <a:gd name="adj" fmla="val 6000"/>
            </a:avLst>
          </a:prstGeom>
          <a:solidFill>
            <a:srgbClr val="162032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3"/>
          <p:cNvSpPr/>
          <p:nvPr/>
        </p:nvSpPr>
        <p:spPr>
          <a:xfrm>
            <a:off x="6355080" y="1960847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E6394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4,200+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4"/>
          <p:cNvSpPr/>
          <p:nvPr/>
        </p:nvSpPr>
        <p:spPr>
          <a:xfrm>
            <a:off x="8823960" y="1997423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DEATHS PER YEAR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5"/>
          <p:cNvSpPr/>
          <p:nvPr/>
        </p:nvSpPr>
        <p:spPr>
          <a:xfrm>
            <a:off x="6355080" y="2399759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8EDF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linked to medication errors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26"/>
          <p:cNvSpPr/>
          <p:nvPr/>
        </p:nvSpPr>
        <p:spPr>
          <a:xfrm>
            <a:off x="6355080" y="2637503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1" u="none" strike="noStrike" kern="1200" cap="none" spc="0" normalizeH="0" baseline="0" noProof="0" dirty="0">
                <a:ln>
                  <a:noFill/>
                </a:ln>
                <a:solidFill>
                  <a:srgbClr val="8BA3B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Source: IMED Bangladesh, 2022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27"/>
          <p:cNvSpPr/>
          <p:nvPr/>
        </p:nvSpPr>
        <p:spPr>
          <a:xfrm>
            <a:off x="6263640" y="2957543"/>
            <a:ext cx="5486400" cy="914400"/>
          </a:xfrm>
          <a:prstGeom prst="roundRect">
            <a:avLst>
              <a:gd name="adj" fmla="val 6000"/>
            </a:avLst>
          </a:prstGeom>
          <a:solidFill>
            <a:srgbClr val="162032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28"/>
          <p:cNvSpPr/>
          <p:nvPr/>
        </p:nvSpPr>
        <p:spPr>
          <a:xfrm>
            <a:off x="6355080" y="3012407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4A2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৳18,000 Cr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29"/>
          <p:cNvSpPr/>
          <p:nvPr/>
        </p:nvSpPr>
        <p:spPr>
          <a:xfrm>
            <a:off x="8823960" y="3048983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WASTED ANNUALLY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0"/>
          <p:cNvSpPr/>
          <p:nvPr/>
        </p:nvSpPr>
        <p:spPr>
          <a:xfrm>
            <a:off x="6355080" y="3451319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8EDF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 redundant &amp; unnecessary diagnostics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1"/>
          <p:cNvSpPr/>
          <p:nvPr/>
        </p:nvSpPr>
        <p:spPr>
          <a:xfrm>
            <a:off x="6355080" y="3689063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1" u="none" strike="noStrike" kern="1200" cap="none" spc="0" normalizeH="0" baseline="0" noProof="0" dirty="0">
                <a:ln>
                  <a:noFill/>
                </a:ln>
                <a:solidFill>
                  <a:srgbClr val="8BA3B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Source: World Bank Health Expenditure Report, 2023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2"/>
          <p:cNvSpPr/>
          <p:nvPr/>
        </p:nvSpPr>
        <p:spPr>
          <a:xfrm>
            <a:off x="6263640" y="4009103"/>
            <a:ext cx="5486400" cy="914400"/>
          </a:xfrm>
          <a:prstGeom prst="roundRect">
            <a:avLst>
              <a:gd name="adj" fmla="val 6000"/>
            </a:avLst>
          </a:prstGeom>
          <a:solidFill>
            <a:srgbClr val="162032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3"/>
          <p:cNvSpPr/>
          <p:nvPr/>
        </p:nvSpPr>
        <p:spPr>
          <a:xfrm>
            <a:off x="6355080" y="4063967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8B5CF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62%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4"/>
          <p:cNvSpPr/>
          <p:nvPr/>
        </p:nvSpPr>
        <p:spPr>
          <a:xfrm>
            <a:off x="8823960" y="4100543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OF RURAL PATIENTS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5"/>
          <p:cNvSpPr/>
          <p:nvPr/>
        </p:nvSpPr>
        <p:spPr>
          <a:xfrm>
            <a:off x="6355080" y="4502879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8EDF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self-medicate dangerously without guidance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36"/>
          <p:cNvSpPr/>
          <p:nvPr/>
        </p:nvSpPr>
        <p:spPr>
          <a:xfrm>
            <a:off x="6355080" y="4740623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1" u="none" strike="noStrike" kern="1200" cap="none" spc="0" normalizeH="0" baseline="0" noProof="0" dirty="0">
                <a:ln>
                  <a:noFill/>
                </a:ln>
                <a:solidFill>
                  <a:srgbClr val="8BA3B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Source: ICDDR,B Community Health Survey, 2023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Shape 37"/>
          <p:cNvSpPr/>
          <p:nvPr/>
        </p:nvSpPr>
        <p:spPr>
          <a:xfrm>
            <a:off x="6263640" y="5060663"/>
            <a:ext cx="5486400" cy="914400"/>
          </a:xfrm>
          <a:prstGeom prst="roundRect">
            <a:avLst>
              <a:gd name="adj" fmla="val 6000"/>
            </a:avLst>
          </a:prstGeom>
          <a:solidFill>
            <a:srgbClr val="162032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38"/>
          <p:cNvSpPr/>
          <p:nvPr/>
        </p:nvSpPr>
        <p:spPr>
          <a:xfrm>
            <a:off x="6355080" y="5115527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B4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 EMRs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39"/>
          <p:cNvSpPr/>
          <p:nvPr/>
        </p:nvSpPr>
        <p:spPr>
          <a:xfrm>
            <a:off x="8823960" y="5152103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INTEROPERATING NATIONALLY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40"/>
          <p:cNvSpPr/>
          <p:nvPr/>
        </p:nvSpPr>
        <p:spPr>
          <a:xfrm>
            <a:off x="6355080" y="5554439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8EDF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every facility operates in total isolation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 41"/>
          <p:cNvSpPr/>
          <p:nvPr/>
        </p:nvSpPr>
        <p:spPr>
          <a:xfrm>
            <a:off x="6355080" y="5792183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1" u="none" strike="noStrike" kern="1200" cap="none" spc="0" normalizeH="0" baseline="0" noProof="0" dirty="0">
                <a:ln>
                  <a:noFill/>
                </a:ln>
                <a:solidFill>
                  <a:srgbClr val="8BA3B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Source: MoHFW eHealth Strategy, 2024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Shape 42"/>
          <p:cNvSpPr/>
          <p:nvPr/>
        </p:nvSpPr>
        <p:spPr>
          <a:xfrm>
            <a:off x="0" y="6400800"/>
            <a:ext cx="12161520" cy="45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320" y="6473952"/>
            <a:ext cx="256032" cy="256032"/>
          </a:xfrm>
          <a:prstGeom prst="rect">
            <a:avLst/>
          </a:prstGeom>
        </p:spPr>
      </p:pic>
      <p:sp>
        <p:nvSpPr>
          <p:cNvPr id="50" name="Text 43"/>
          <p:cNvSpPr/>
          <p:nvPr/>
        </p:nvSpPr>
        <p:spPr>
          <a:xfrm>
            <a:off x="640080" y="64465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These are not projections. These are documented, ongoing failures — happening right now, at national scale.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453" y="3310417"/>
            <a:ext cx="24384" cy="657504"/>
          </a:xfrm>
          <a:prstGeom prst="rect">
            <a:avLst/>
          </a:prstGeom>
          <a:solidFill>
            <a:srgbClr val="00BCD4">
              <a:alpha val="15000"/>
            </a:srgbClr>
          </a:solidFill>
          <a:ln w="12700">
            <a:solidFill>
              <a:srgbClr val="00BCD4">
                <a:alpha val="1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510716" y="5014028"/>
            <a:ext cx="24384" cy="2319315"/>
          </a:xfrm>
          <a:prstGeom prst="rect">
            <a:avLst/>
          </a:prstGeom>
          <a:solidFill>
            <a:srgbClr val="00BCD4">
              <a:alpha val="15000"/>
            </a:srgbClr>
          </a:solidFill>
          <a:ln w="12700">
            <a:solidFill>
              <a:srgbClr val="00BCD4">
                <a:alpha val="1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558433" y="3820620"/>
            <a:ext cx="24384" cy="618617"/>
          </a:xfrm>
          <a:prstGeom prst="rect">
            <a:avLst/>
          </a:prstGeom>
          <a:solidFill>
            <a:srgbClr val="00BCD4">
              <a:alpha val="15000"/>
            </a:srgbClr>
          </a:solidFill>
          <a:ln w="12700">
            <a:solidFill>
              <a:srgbClr val="00BCD4">
                <a:alpha val="1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9144421" y="1964767"/>
            <a:ext cx="24384" cy="1524245"/>
          </a:xfrm>
          <a:prstGeom prst="rect">
            <a:avLst/>
          </a:prstGeom>
          <a:solidFill>
            <a:srgbClr val="00BCD4">
              <a:alpha val="15000"/>
            </a:srgbClr>
          </a:solidFill>
          <a:ln w="12700">
            <a:solidFill>
              <a:srgbClr val="00BCD4">
                <a:alpha val="1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953591" y="3362737"/>
            <a:ext cx="24384" cy="1618227"/>
          </a:xfrm>
          <a:prstGeom prst="rect">
            <a:avLst/>
          </a:prstGeom>
          <a:solidFill>
            <a:srgbClr val="00BCD4">
              <a:alpha val="15000"/>
            </a:srgbClr>
          </a:solidFill>
          <a:ln w="12700">
            <a:solidFill>
              <a:srgbClr val="00BCD4">
                <a:alpha val="1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369340" y="2648369"/>
            <a:ext cx="24384" cy="2218001"/>
          </a:xfrm>
          <a:prstGeom prst="rect">
            <a:avLst/>
          </a:prstGeom>
          <a:solidFill>
            <a:srgbClr val="00BCD4">
              <a:alpha val="15000"/>
            </a:srgbClr>
          </a:solidFill>
          <a:ln w="12700">
            <a:solidFill>
              <a:srgbClr val="00BCD4">
                <a:alpha val="1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177399" y="5882870"/>
            <a:ext cx="24384" cy="701231"/>
          </a:xfrm>
          <a:prstGeom prst="rect">
            <a:avLst/>
          </a:prstGeom>
          <a:solidFill>
            <a:srgbClr val="00BCD4">
              <a:alpha val="15000"/>
            </a:srgbClr>
          </a:solidFill>
          <a:ln w="12700">
            <a:solidFill>
              <a:srgbClr val="00BCD4">
                <a:alpha val="1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614799" y="4601999"/>
            <a:ext cx="2096824" cy="24384"/>
          </a:xfrm>
          <a:prstGeom prst="rect">
            <a:avLst/>
          </a:prstGeom>
          <a:solidFill>
            <a:srgbClr val="00BCD4">
              <a:alpha val="20000"/>
            </a:srgbClr>
          </a:solidFill>
          <a:ln w="12700">
            <a:solidFill>
              <a:srgbClr val="00BCD4">
                <a:alpha val="2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829413" y="6016497"/>
            <a:ext cx="2523305" cy="24384"/>
          </a:xfrm>
          <a:prstGeom prst="rect">
            <a:avLst/>
          </a:prstGeom>
          <a:solidFill>
            <a:srgbClr val="00BCD4">
              <a:alpha val="20000"/>
            </a:srgbClr>
          </a:solidFill>
          <a:ln w="12700">
            <a:solidFill>
              <a:srgbClr val="00BCD4">
                <a:alpha val="2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142283" y="2769173"/>
            <a:ext cx="1550831" cy="24384"/>
          </a:xfrm>
          <a:prstGeom prst="rect">
            <a:avLst/>
          </a:prstGeom>
          <a:solidFill>
            <a:srgbClr val="00BCD4">
              <a:alpha val="20000"/>
            </a:srgbClr>
          </a:solidFill>
          <a:ln w="12700">
            <a:solidFill>
              <a:srgbClr val="00BCD4">
                <a:alpha val="2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234201" y="6313296"/>
            <a:ext cx="2131320" cy="24384"/>
          </a:xfrm>
          <a:prstGeom prst="rect">
            <a:avLst/>
          </a:prstGeom>
          <a:solidFill>
            <a:srgbClr val="00BCD4">
              <a:alpha val="20000"/>
            </a:srgbClr>
          </a:solidFill>
          <a:ln w="12700">
            <a:solidFill>
              <a:srgbClr val="00BCD4">
                <a:alpha val="2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9949308" y="4582621"/>
            <a:ext cx="1883067" cy="24384"/>
          </a:xfrm>
          <a:prstGeom prst="rect">
            <a:avLst/>
          </a:prstGeom>
          <a:solidFill>
            <a:srgbClr val="00BCD4">
              <a:alpha val="20000"/>
            </a:srgbClr>
          </a:solidFill>
          <a:ln w="12700">
            <a:solidFill>
              <a:srgbClr val="00BCD4">
                <a:alpha val="2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0" y="4632960"/>
            <a:ext cx="12192000" cy="0"/>
          </a:xfrm>
          <a:prstGeom prst="line">
            <a:avLst/>
          </a:prstGeom>
          <a:noFill/>
          <a:ln w="6350">
            <a:solidFill>
              <a:srgbClr val="00BCD4">
                <a:alpha val="3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0" y="5120640"/>
            <a:ext cx="12192000" cy="0"/>
          </a:xfrm>
          <a:prstGeom prst="line">
            <a:avLst/>
          </a:prstGeom>
          <a:noFill/>
          <a:ln w="6350">
            <a:solidFill>
              <a:srgbClr val="00BCD4">
                <a:alpha val="3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09600" y="656491"/>
            <a:ext cx="10972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733" b="1" i="0" u="none" strike="noStrike" kern="1200" cap="none" spc="0" normalizeH="0" baseline="0" noProof="0" dirty="0">
                <a:ln>
                  <a:noFill/>
                </a:ln>
                <a:solidFill>
                  <a:srgbClr val="00BCD4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Rx</a:t>
            </a:r>
            <a:r>
              <a:rPr kumimoji="0" lang="en-US" sz="11733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Sense</a:t>
            </a:r>
            <a:endParaRPr kumimoji="0" lang="en-US" sz="117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21547" y="4297680"/>
            <a:ext cx="2218944" cy="609600"/>
          </a:xfrm>
          <a:prstGeom prst="roundRect">
            <a:avLst>
              <a:gd name="adj" fmla="val 16000"/>
            </a:avLst>
          </a:prstGeom>
          <a:solidFill>
            <a:srgbClr val="00BCD4">
              <a:alpha val="30000"/>
            </a:srgbClr>
          </a:solidFill>
          <a:ln w="19050">
            <a:solidFill>
              <a:srgbClr val="00BCD4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14773" y="4297680"/>
            <a:ext cx="2218944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Prescription Analyzer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2768939" y="4297680"/>
            <a:ext cx="2218944" cy="609600"/>
          </a:xfrm>
          <a:prstGeom prst="roundRect">
            <a:avLst>
              <a:gd name="adj" fmla="val 16000"/>
            </a:avLst>
          </a:prstGeom>
          <a:solidFill>
            <a:srgbClr val="6B21A8">
              <a:alpha val="30000"/>
            </a:srgbClr>
          </a:solidFill>
          <a:ln w="19050">
            <a:solidFill>
              <a:srgbClr val="6B21A8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2775712" y="4297680"/>
            <a:ext cx="2218944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Report Analyzer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002784" y="4304453"/>
            <a:ext cx="2218944" cy="609600"/>
          </a:xfrm>
          <a:prstGeom prst="roundRect">
            <a:avLst>
              <a:gd name="adj" fmla="val 16000"/>
            </a:avLst>
          </a:prstGeom>
          <a:solidFill>
            <a:schemeClr val="accent1">
              <a:alpha val="30000"/>
            </a:schemeClr>
          </a:solidFill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996011" y="4297680"/>
            <a:ext cx="2218944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Future Complexity Predictor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229856" y="4297680"/>
            <a:ext cx="2218944" cy="609600"/>
          </a:xfrm>
          <a:prstGeom prst="roundRect">
            <a:avLst>
              <a:gd name="adj" fmla="val 16000"/>
            </a:avLst>
          </a:prstGeom>
          <a:solidFill>
            <a:srgbClr val="FF0000">
              <a:alpha val="30000"/>
            </a:srgbClr>
          </a:solidFill>
          <a:ln w="19050">
            <a:solidFill>
              <a:srgbClr val="FF0000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223083" y="4297680"/>
            <a:ext cx="2218944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Drug Interaction Checker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9477248" y="4297680"/>
            <a:ext cx="2218944" cy="609600"/>
          </a:xfrm>
          <a:prstGeom prst="roundRect">
            <a:avLst>
              <a:gd name="adj" fmla="val 16000"/>
            </a:avLst>
          </a:prstGeom>
          <a:solidFill>
            <a:srgbClr val="27AE60">
              <a:alpha val="30000"/>
            </a:srgbClr>
          </a:solidFill>
          <a:ln w="19050">
            <a:solidFill>
              <a:srgbClr val="27AE60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9470475" y="4297680"/>
            <a:ext cx="2218944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33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Symptom Advisor</a:t>
            </a:r>
            <a:endParaRPr kumimoji="0" lang="en-US" sz="11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09600" y="5730240"/>
            <a:ext cx="10972800" cy="0"/>
          </a:xfrm>
          <a:prstGeom prst="line">
            <a:avLst/>
          </a:prstGeom>
          <a:noFill/>
          <a:ln w="6350">
            <a:solidFill>
              <a:srgbClr val="546E7A">
                <a:alpha val="5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09600" y="6035037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67" b="0" i="1" u="none" strike="noStrike" kern="1200" cap="none" spc="0" normalizeH="0" baseline="0" noProof="0" dirty="0">
                <a:ln>
                  <a:noFill/>
                </a:ln>
                <a:solidFill>
                  <a:srgbClr val="00BCD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✦  A clinical supplement — not a doctor replacement</a:t>
            </a:r>
            <a:endParaRPr kumimoji="0" lang="en-US" sz="126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">
            <a:extLst>
              <a:ext uri="{FF2B5EF4-FFF2-40B4-BE49-F238E27FC236}">
                <a16:creationId xmlns:a16="http://schemas.microsoft.com/office/drawing/2014/main" id="{C0E9D531-199E-DA6A-85EA-1393155CB277}"/>
              </a:ext>
            </a:extLst>
          </p:cNvPr>
          <p:cNvSpPr/>
          <p:nvPr/>
        </p:nvSpPr>
        <p:spPr>
          <a:xfrm>
            <a:off x="609600" y="2597831"/>
            <a:ext cx="10972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67" b="0" i="1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 AI-Native Medical Intelligence Platform</a:t>
            </a:r>
            <a:endParaRPr kumimoji="0" lang="en-US" sz="226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4">
            <a:extLst>
              <a:ext uri="{FF2B5EF4-FFF2-40B4-BE49-F238E27FC236}">
                <a16:creationId xmlns:a16="http://schemas.microsoft.com/office/drawing/2014/main" id="{AE99D484-C460-4E9D-AE61-86A3514A8BFF}"/>
              </a:ext>
            </a:extLst>
          </p:cNvPr>
          <p:cNvSpPr/>
          <p:nvPr/>
        </p:nvSpPr>
        <p:spPr>
          <a:xfrm>
            <a:off x="1219200" y="3230880"/>
            <a:ext cx="975360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67" b="0" i="0" u="none" strike="noStrike" kern="1200" cap="none" spc="0" normalizeH="0" baseline="0" noProof="0" dirty="0">
                <a:ln>
                  <a:noFill/>
                </a:ln>
                <a:solidFill>
                  <a:srgbClr val="E8F4F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Ten specialized AI modules — working in concert — to bridge the gap between doctor and patient,</a:t>
            </a:r>
            <a:endParaRPr kumimoji="0" lang="en-US" sz="146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67" b="0" i="0" u="none" strike="noStrike" kern="1200" cap="none" spc="0" normalizeH="0" baseline="0" noProof="0" dirty="0">
                <a:ln>
                  <a:noFill/>
                </a:ln>
                <a:solidFill>
                  <a:srgbClr val="E8F4F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built on real clinical data, real RAG pipelines, and real LLM reasoning.</a:t>
            </a:r>
            <a:endParaRPr kumimoji="0" lang="en-US" sz="146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20">
            <a:extLst>
              <a:ext uri="{FF2B5EF4-FFF2-40B4-BE49-F238E27FC236}">
                <a16:creationId xmlns:a16="http://schemas.microsoft.com/office/drawing/2014/main" id="{E92EA40A-CA64-F388-0E3F-C2727092D1BD}"/>
              </a:ext>
            </a:extLst>
          </p:cNvPr>
          <p:cNvSpPr/>
          <p:nvPr/>
        </p:nvSpPr>
        <p:spPr>
          <a:xfrm>
            <a:off x="514773" y="5125552"/>
            <a:ext cx="2218944" cy="609600"/>
          </a:xfrm>
          <a:prstGeom prst="roundRect">
            <a:avLst>
              <a:gd name="adj" fmla="val 16000"/>
            </a:avLst>
          </a:prstGeom>
          <a:solidFill>
            <a:schemeClr val="accent4">
              <a:lumMod val="60000"/>
              <a:lumOff val="40000"/>
              <a:alpha val="30000"/>
            </a:schemeClr>
          </a:solidFill>
          <a:ln w="19050">
            <a:solidFill>
              <a:schemeClr val="accent4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21">
            <a:extLst>
              <a:ext uri="{FF2B5EF4-FFF2-40B4-BE49-F238E27FC236}">
                <a16:creationId xmlns:a16="http://schemas.microsoft.com/office/drawing/2014/main" id="{11344883-2487-7BEE-26FB-6C5668D1C3A1}"/>
              </a:ext>
            </a:extLst>
          </p:cNvPr>
          <p:cNvSpPr/>
          <p:nvPr/>
        </p:nvSpPr>
        <p:spPr>
          <a:xfrm>
            <a:off x="507999" y="5125552"/>
            <a:ext cx="2218944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Health Record &amp; Family Tracker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22">
            <a:extLst>
              <a:ext uri="{FF2B5EF4-FFF2-40B4-BE49-F238E27FC236}">
                <a16:creationId xmlns:a16="http://schemas.microsoft.com/office/drawing/2014/main" id="{E709BE48-B818-C1F9-0320-BE9F7EC2518A}"/>
              </a:ext>
            </a:extLst>
          </p:cNvPr>
          <p:cNvSpPr/>
          <p:nvPr/>
        </p:nvSpPr>
        <p:spPr>
          <a:xfrm>
            <a:off x="2762165" y="5125552"/>
            <a:ext cx="2218944" cy="609600"/>
          </a:xfrm>
          <a:prstGeom prst="roundRect">
            <a:avLst>
              <a:gd name="adj" fmla="val 16000"/>
            </a:avLst>
          </a:prstGeom>
          <a:solidFill>
            <a:schemeClr val="accent6">
              <a:alpha val="30000"/>
            </a:schemeClr>
          </a:solidFill>
          <a:ln w="19050">
            <a:solidFill>
              <a:schemeClr val="accent6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23">
            <a:extLst>
              <a:ext uri="{FF2B5EF4-FFF2-40B4-BE49-F238E27FC236}">
                <a16:creationId xmlns:a16="http://schemas.microsoft.com/office/drawing/2014/main" id="{8295D3D2-9FC1-93CC-8676-15F96B5ADE59}"/>
              </a:ext>
            </a:extLst>
          </p:cNvPr>
          <p:cNvSpPr/>
          <p:nvPr/>
        </p:nvSpPr>
        <p:spPr>
          <a:xfrm>
            <a:off x="2768938" y="5125552"/>
            <a:ext cx="2218944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Smart </a:t>
            </a:r>
            <a:r>
              <a:rPr kumimoji="0" lang="en-US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RxPad</a:t>
            </a: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Generator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24">
            <a:extLst>
              <a:ext uri="{FF2B5EF4-FFF2-40B4-BE49-F238E27FC236}">
                <a16:creationId xmlns:a16="http://schemas.microsoft.com/office/drawing/2014/main" id="{318B954F-6F8F-5145-7A36-1D121DA54DF2}"/>
              </a:ext>
            </a:extLst>
          </p:cNvPr>
          <p:cNvSpPr/>
          <p:nvPr/>
        </p:nvSpPr>
        <p:spPr>
          <a:xfrm>
            <a:off x="4996010" y="5132325"/>
            <a:ext cx="2218944" cy="609600"/>
          </a:xfrm>
          <a:prstGeom prst="roundRect">
            <a:avLst>
              <a:gd name="adj" fmla="val 16000"/>
            </a:avLst>
          </a:prstGeom>
          <a:solidFill>
            <a:schemeClr val="tx2">
              <a:lumMod val="20000"/>
              <a:lumOff val="80000"/>
              <a:alpha val="30000"/>
            </a:schemeClr>
          </a:solidFill>
          <a:ln w="19050">
            <a:solidFill>
              <a:schemeClr val="tx2">
                <a:lumMod val="20000"/>
                <a:lumOff val="80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25">
            <a:extLst>
              <a:ext uri="{FF2B5EF4-FFF2-40B4-BE49-F238E27FC236}">
                <a16:creationId xmlns:a16="http://schemas.microsoft.com/office/drawing/2014/main" id="{2825C78C-ABF8-88F9-E972-53D8978A98A7}"/>
              </a:ext>
            </a:extLst>
          </p:cNvPr>
          <p:cNvSpPr/>
          <p:nvPr/>
        </p:nvSpPr>
        <p:spPr>
          <a:xfrm>
            <a:off x="4989237" y="5125552"/>
            <a:ext cx="2218944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Patient Insight Generator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26">
            <a:extLst>
              <a:ext uri="{FF2B5EF4-FFF2-40B4-BE49-F238E27FC236}">
                <a16:creationId xmlns:a16="http://schemas.microsoft.com/office/drawing/2014/main" id="{D23AE9E8-0B27-136D-B408-A9AF60BEDAED}"/>
              </a:ext>
            </a:extLst>
          </p:cNvPr>
          <p:cNvSpPr/>
          <p:nvPr/>
        </p:nvSpPr>
        <p:spPr>
          <a:xfrm>
            <a:off x="7223082" y="5125552"/>
            <a:ext cx="2218944" cy="609600"/>
          </a:xfrm>
          <a:prstGeom prst="roundRect">
            <a:avLst>
              <a:gd name="adj" fmla="val 16000"/>
            </a:avLst>
          </a:prstGeom>
          <a:solidFill>
            <a:srgbClr val="E67E22">
              <a:alpha val="30000"/>
            </a:srgbClr>
          </a:solidFill>
          <a:ln w="19050">
            <a:solidFill>
              <a:srgbClr val="E67E22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27">
            <a:extLst>
              <a:ext uri="{FF2B5EF4-FFF2-40B4-BE49-F238E27FC236}">
                <a16:creationId xmlns:a16="http://schemas.microsoft.com/office/drawing/2014/main" id="{9A6A76F8-CD39-BBF6-144D-82E623D4A0BF}"/>
              </a:ext>
            </a:extLst>
          </p:cNvPr>
          <p:cNvSpPr/>
          <p:nvPr/>
        </p:nvSpPr>
        <p:spPr>
          <a:xfrm>
            <a:off x="7216309" y="5125552"/>
            <a:ext cx="2218944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Doctor Finder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Shape 28">
            <a:extLst>
              <a:ext uri="{FF2B5EF4-FFF2-40B4-BE49-F238E27FC236}">
                <a16:creationId xmlns:a16="http://schemas.microsoft.com/office/drawing/2014/main" id="{C4FFBB07-D516-6E0E-9205-6DD56DB14560}"/>
              </a:ext>
            </a:extLst>
          </p:cNvPr>
          <p:cNvSpPr/>
          <p:nvPr/>
        </p:nvSpPr>
        <p:spPr>
          <a:xfrm>
            <a:off x="9470474" y="5125552"/>
            <a:ext cx="2218944" cy="609600"/>
          </a:xfrm>
          <a:prstGeom prst="roundRect">
            <a:avLst>
              <a:gd name="adj" fmla="val 16000"/>
            </a:avLst>
          </a:prstGeom>
          <a:solidFill>
            <a:schemeClr val="tx2">
              <a:lumMod val="60000"/>
              <a:lumOff val="40000"/>
              <a:alpha val="30000"/>
            </a:schemeClr>
          </a:solidFill>
          <a:ln w="19050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29">
            <a:extLst>
              <a:ext uri="{FF2B5EF4-FFF2-40B4-BE49-F238E27FC236}">
                <a16:creationId xmlns:a16="http://schemas.microsoft.com/office/drawing/2014/main" id="{F6808301-195B-23E0-7C6B-4F05A8403D60}"/>
              </a:ext>
            </a:extLst>
          </p:cNvPr>
          <p:cNvSpPr/>
          <p:nvPr/>
        </p:nvSpPr>
        <p:spPr>
          <a:xfrm>
            <a:off x="9463701" y="5125552"/>
            <a:ext cx="2218944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Doctor Appointment Manager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400" normalizeH="0" baseline="0" noProof="0" dirty="0">
                <a:ln>
                  <a:noFill/>
                </a:ln>
                <a:solidFill>
                  <a:srgbClr val="00C9C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03   THE SOLUTION · DIRECT GAP MAPPING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How RxSense Closes Every Gap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Each national failure has a direct, purpose-built module in RxSense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11501120" cy="36087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17190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00C9C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SYSTEM GAP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632960" y="17190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00C9C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RXSENSE MODULE FIX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9067799" y="1647951"/>
            <a:ext cx="2380275" cy="450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00C9C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65760" y="2130552"/>
            <a:ext cx="11501120" cy="683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11480" y="222199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Illegible handwritten prescriptions causing dosage errors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6560" y="2368296"/>
            <a:ext cx="201168" cy="20116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632960" y="218541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891B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Module 01: Prescription Analyzer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632960" y="241401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OCR + MedGemma AI structures any handwritten Rx into verified digital data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9067799" y="2224023"/>
            <a:ext cx="2276785" cy="480713"/>
          </a:xfrm>
          <a:prstGeom prst="roundRect">
            <a:avLst>
              <a:gd name="adj" fmla="val 15625"/>
            </a:avLst>
          </a:prstGeom>
          <a:solidFill>
            <a:srgbClr val="FEE2E2"/>
          </a:solidFill>
          <a:ln w="6350">
            <a:solidFill>
              <a:srgbClr val="E6394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9113520" y="2242312"/>
            <a:ext cx="222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E6394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Eliminate dispensing errors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365760" y="2825496"/>
            <a:ext cx="11501120" cy="68376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411480" y="291693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 trend tracking — static lab reports with zero clinical context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6560" y="3063240"/>
            <a:ext cx="201168" cy="20116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632960" y="28803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7C3AE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Module 02+03: Report Analyzer + Future Predictor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4632960" y="31089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trend analysis + predictive health trajectory modelling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18"/>
          <p:cNvSpPr/>
          <p:nvPr/>
        </p:nvSpPr>
        <p:spPr>
          <a:xfrm>
            <a:off x="9067799" y="2918967"/>
            <a:ext cx="2276785" cy="480713"/>
          </a:xfrm>
          <a:prstGeom prst="roundRect">
            <a:avLst>
              <a:gd name="adj" fmla="val 15625"/>
            </a:avLst>
          </a:prstGeom>
          <a:solidFill>
            <a:srgbClr val="EDE9FE"/>
          </a:solidFill>
          <a:ln w="6350">
            <a:solidFill>
              <a:srgbClr val="7C3AE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19"/>
          <p:cNvSpPr/>
          <p:nvPr/>
        </p:nvSpPr>
        <p:spPr>
          <a:xfrm>
            <a:off x="9113520" y="2937256"/>
            <a:ext cx="222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7C3AE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Proactive care, not reactive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0"/>
          <p:cNvSpPr/>
          <p:nvPr/>
        </p:nvSpPr>
        <p:spPr>
          <a:xfrm>
            <a:off x="365760" y="3520440"/>
            <a:ext cx="11501120" cy="683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1"/>
          <p:cNvSpPr/>
          <p:nvPr/>
        </p:nvSpPr>
        <p:spPr>
          <a:xfrm>
            <a:off x="411480" y="36118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 cross-provider drug safety net — polypharmacy kills silently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6560" y="3758184"/>
            <a:ext cx="201168" cy="201168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4632960" y="3575304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E6394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Module 04: Drug Interaction Checker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3"/>
          <p:cNvSpPr/>
          <p:nvPr/>
        </p:nvSpPr>
        <p:spPr>
          <a:xfrm>
            <a:off x="4632960" y="380390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Flags critical drug-drug interactions across all prescribers in real-time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4"/>
          <p:cNvSpPr/>
          <p:nvPr/>
        </p:nvSpPr>
        <p:spPr>
          <a:xfrm>
            <a:off x="9067799" y="3613911"/>
            <a:ext cx="2276785" cy="480713"/>
          </a:xfrm>
          <a:prstGeom prst="roundRect">
            <a:avLst>
              <a:gd name="adj" fmla="val 15625"/>
            </a:avLst>
          </a:prstGeom>
          <a:solidFill>
            <a:srgbClr val="FEE2E2"/>
          </a:solidFill>
          <a:ln w="6350">
            <a:solidFill>
              <a:srgbClr val="E6394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5"/>
          <p:cNvSpPr/>
          <p:nvPr/>
        </p:nvSpPr>
        <p:spPr>
          <a:xfrm>
            <a:off x="9113520" y="3632200"/>
            <a:ext cx="222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E6394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Prevent hospitalizations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6"/>
          <p:cNvSpPr/>
          <p:nvPr/>
        </p:nvSpPr>
        <p:spPr>
          <a:xfrm>
            <a:off x="365760" y="4215384"/>
            <a:ext cx="11501120" cy="68376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27"/>
          <p:cNvSpPr/>
          <p:nvPr/>
        </p:nvSpPr>
        <p:spPr>
          <a:xfrm>
            <a:off x="411480" y="430682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0.67 doctors per 1,000 people — millions with no access to care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6560" y="4453128"/>
            <a:ext cx="201168" cy="201168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4632960" y="427024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5966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Module 05: Symptom Advisor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29"/>
          <p:cNvSpPr/>
          <p:nvPr/>
        </p:nvSpPr>
        <p:spPr>
          <a:xfrm>
            <a:off x="4632960" y="449884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AI-guided triage for underserved populations — Bangla + English, offline-capable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0"/>
          <p:cNvSpPr/>
          <p:nvPr/>
        </p:nvSpPr>
        <p:spPr>
          <a:xfrm>
            <a:off x="9067799" y="4308855"/>
            <a:ext cx="2276785" cy="480713"/>
          </a:xfrm>
          <a:prstGeom prst="roundRect">
            <a:avLst>
              <a:gd name="adj" fmla="val 15625"/>
            </a:avLst>
          </a:prstGeom>
          <a:solidFill>
            <a:srgbClr val="D1FAE5"/>
          </a:solidFill>
          <a:ln w="6350">
            <a:solidFill>
              <a:srgbClr val="05966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1"/>
          <p:cNvSpPr/>
          <p:nvPr/>
        </p:nvSpPr>
        <p:spPr>
          <a:xfrm>
            <a:off x="9113520" y="4327144"/>
            <a:ext cx="222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5966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Reach 170M+ unserved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2"/>
          <p:cNvSpPr/>
          <p:nvPr/>
        </p:nvSpPr>
        <p:spPr>
          <a:xfrm>
            <a:off x="365760" y="4910328"/>
            <a:ext cx="11501120" cy="683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3"/>
          <p:cNvSpPr/>
          <p:nvPr/>
        </p:nvSpPr>
        <p:spPr>
          <a:xfrm>
            <a:off x="411480" y="500176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 central EMR — every hospital visit starts from zero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6560" y="5148072"/>
            <a:ext cx="201168" cy="201168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4632960" y="496519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891B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Module 06: Health Record &amp; Family Tracker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35"/>
          <p:cNvSpPr/>
          <p:nvPr/>
        </p:nvSpPr>
        <p:spPr>
          <a:xfrm>
            <a:off x="4632960" y="519379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Unified longitudinal health records with family network tracking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Shape 36"/>
          <p:cNvSpPr/>
          <p:nvPr/>
        </p:nvSpPr>
        <p:spPr>
          <a:xfrm>
            <a:off x="9067799" y="5003799"/>
            <a:ext cx="2276785" cy="480713"/>
          </a:xfrm>
          <a:prstGeom prst="roundRect">
            <a:avLst>
              <a:gd name="adj" fmla="val 15625"/>
            </a:avLst>
          </a:prstGeom>
          <a:solidFill>
            <a:srgbClr val="E0F2FE"/>
          </a:solidFill>
          <a:ln w="6350">
            <a:solidFill>
              <a:srgbClr val="0284C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37"/>
          <p:cNvSpPr/>
          <p:nvPr/>
        </p:nvSpPr>
        <p:spPr>
          <a:xfrm>
            <a:off x="9113520" y="5022088"/>
            <a:ext cx="222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284C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Build national health memory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Shape 38"/>
          <p:cNvSpPr/>
          <p:nvPr/>
        </p:nvSpPr>
        <p:spPr>
          <a:xfrm>
            <a:off x="365760" y="5605272"/>
            <a:ext cx="11501120" cy="68376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39"/>
          <p:cNvSpPr/>
          <p:nvPr/>
        </p:nvSpPr>
        <p:spPr>
          <a:xfrm>
            <a:off x="411480" y="569671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Supply blindspot — vaccine &amp; drug demand cannot be forecast (Measles 2024)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7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6560" y="5843016"/>
            <a:ext cx="201168" cy="201168"/>
          </a:xfrm>
          <a:prstGeom prst="rect">
            <a:avLst/>
          </a:prstGeom>
        </p:spPr>
      </p:pic>
      <p:sp>
        <p:nvSpPr>
          <p:cNvPr id="48" name="Text 40"/>
          <p:cNvSpPr/>
          <p:nvPr/>
        </p:nvSpPr>
        <p:spPr>
          <a:xfrm>
            <a:off x="4632960" y="566013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Module 03: Predictive Analytics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41"/>
          <p:cNvSpPr/>
          <p:nvPr/>
        </p:nvSpPr>
        <p:spPr>
          <a:xfrm>
            <a:off x="4632960" y="588873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Population-level trend analysis enables proactive national supply planning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Shape 42"/>
          <p:cNvSpPr/>
          <p:nvPr/>
        </p:nvSpPr>
        <p:spPr>
          <a:xfrm>
            <a:off x="9067799" y="5698743"/>
            <a:ext cx="2276785" cy="480713"/>
          </a:xfrm>
          <a:prstGeom prst="roundRect">
            <a:avLst>
              <a:gd name="adj" fmla="val 15625"/>
            </a:avLst>
          </a:prstGeom>
          <a:solidFill>
            <a:srgbClr val="FEF3C7"/>
          </a:solidFill>
          <a:ln w="6350">
            <a:solidFill>
              <a:srgbClr val="B4530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Text 43"/>
          <p:cNvSpPr/>
          <p:nvPr/>
        </p:nvSpPr>
        <p:spPr>
          <a:xfrm>
            <a:off x="9113520" y="5717032"/>
            <a:ext cx="222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B4530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Prevent crises before they occur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77824"/>
          </a:xfrm>
          <a:prstGeom prst="rect">
            <a:avLst/>
          </a:prstGeom>
          <a:solidFill>
            <a:srgbClr val="102040"/>
          </a:solidFill>
          <a:ln w="12700">
            <a:solidFill>
              <a:srgbClr val="102040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87680" y="0"/>
            <a:ext cx="1097280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33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⚙  How RxSense Works — System Architecture</a:t>
            </a:r>
            <a:endParaRPr kumimoji="0" lang="en-US" sz="21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55600" y="1001614"/>
            <a:ext cx="11460480" cy="1243584"/>
          </a:xfrm>
          <a:prstGeom prst="rect">
            <a:avLst/>
          </a:prstGeom>
          <a:solidFill>
            <a:srgbClr val="00BCD4">
              <a:alpha val="12000"/>
            </a:srgbClr>
          </a:solidFill>
          <a:ln w="19050">
            <a:solidFill>
              <a:srgbClr val="00BCD4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352694" y="1446127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200" normalizeH="0" baseline="0" noProof="0" dirty="0">
                <a:ln>
                  <a:noFill/>
                </a:ln>
                <a:solidFill>
                  <a:srgbClr val="00BCD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USER LAYER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733040" y="1097280"/>
            <a:ext cx="146304" cy="146304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2915920" y="1048511"/>
            <a:ext cx="2145792" cy="833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Web App (React / Next.js)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025136" y="1097280"/>
            <a:ext cx="146304" cy="146304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208016" y="1048512"/>
            <a:ext cx="2145792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Bangla + English UI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317232" y="1097280"/>
            <a:ext cx="146304" cy="146304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500112" y="1048512"/>
            <a:ext cx="2145792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Mobile-Friendly Design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609328" y="1097280"/>
            <a:ext cx="146304" cy="146304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792208" y="1048512"/>
            <a:ext cx="2145792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Real-Time Dashboards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949696" y="2243328"/>
            <a:ext cx="292608" cy="60960"/>
          </a:xfrm>
          <a:prstGeom prst="rect">
            <a:avLst/>
          </a:prstGeom>
          <a:solidFill>
            <a:srgbClr val="00BCD4">
              <a:alpha val="60000"/>
            </a:srgbClr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55600" y="2304288"/>
            <a:ext cx="11460480" cy="1243584"/>
          </a:xfrm>
          <a:prstGeom prst="rect">
            <a:avLst/>
          </a:prstGeom>
          <a:solidFill>
            <a:srgbClr val="3B82F6">
              <a:alpha val="12000"/>
            </a:srgbClr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52694" y="2759999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200" normalizeH="0" baseline="0" noProof="0" dirty="0">
                <a:ln>
                  <a:noFill/>
                </a:ln>
                <a:solidFill>
                  <a:srgbClr val="3B82F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 LOGIC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733040" y="2401824"/>
            <a:ext cx="146304" cy="14630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915920" y="2353055"/>
            <a:ext cx="2145792" cy="8824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Node.js Express API Gateway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025136" y="2401824"/>
            <a:ext cx="146304" cy="14630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208016" y="2353056"/>
            <a:ext cx="2145792" cy="8824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Neon PostgreSQL (Serverless)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317232" y="2401824"/>
            <a:ext cx="146304" cy="14630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500112" y="2353055"/>
            <a:ext cx="2145792" cy="7727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pg_trgm Fuzzy Matching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9609328" y="2401824"/>
            <a:ext cx="146304" cy="14630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792208" y="2353056"/>
            <a:ext cx="2145792" cy="7727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pgvector Embeddings Store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949696" y="3547872"/>
            <a:ext cx="292608" cy="60960"/>
          </a:xfrm>
          <a:prstGeom prst="rect">
            <a:avLst/>
          </a:prstGeom>
          <a:solidFill>
            <a:srgbClr val="3B82F6">
              <a:alpha val="6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65760" y="3608832"/>
            <a:ext cx="11460480" cy="1243584"/>
          </a:xfrm>
          <a:prstGeom prst="rect">
            <a:avLst/>
          </a:prstGeom>
          <a:solidFill>
            <a:srgbClr val="9C4DCC">
              <a:alpha val="25000"/>
            </a:srgbClr>
          </a:solidFill>
          <a:ln w="19050">
            <a:solidFill>
              <a:srgbClr val="9C4DCC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365760" y="3608832"/>
            <a:ext cx="11460480" cy="1243584"/>
          </a:xfrm>
          <a:prstGeom prst="rect">
            <a:avLst/>
          </a:prstGeom>
          <a:solidFill>
            <a:srgbClr val="9C4DCC">
              <a:alpha val="8000"/>
            </a:srgbClr>
          </a:solidFill>
          <a:ln w="31750">
            <a:solidFill>
              <a:srgbClr val="9C4DCC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352694" y="405521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200" normalizeH="0" baseline="0" noProof="0" dirty="0">
                <a:ln>
                  <a:noFill/>
                </a:ln>
                <a:solidFill>
                  <a:srgbClr val="9C4DC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AI INTELLIGENCE LAYER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2733040" y="3706368"/>
            <a:ext cx="146304" cy="146304"/>
          </a:xfrm>
          <a:prstGeom prst="ellipse">
            <a:avLst/>
          </a:prstGeom>
          <a:solidFill>
            <a:srgbClr val="9C4DCC"/>
          </a:solidFill>
          <a:ln w="12700">
            <a:solidFill>
              <a:srgbClr val="9C4DCC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2915920" y="3657599"/>
            <a:ext cx="2145792" cy="833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OpenAI GPT-4.1 (Vision + Agent)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5025136" y="3706368"/>
            <a:ext cx="146304" cy="146304"/>
          </a:xfrm>
          <a:prstGeom prst="ellipse">
            <a:avLst/>
          </a:prstGeom>
          <a:solidFill>
            <a:srgbClr val="9C4DCC"/>
          </a:solidFill>
          <a:ln w="12700">
            <a:solidFill>
              <a:srgbClr val="9C4DCC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208016" y="3657599"/>
            <a:ext cx="2145792" cy="7727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MedGemma-4b on Modal GPU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7317232" y="3706368"/>
            <a:ext cx="146304" cy="146304"/>
          </a:xfrm>
          <a:prstGeom prst="ellipse">
            <a:avLst/>
          </a:prstGeom>
          <a:solidFill>
            <a:srgbClr val="9C4DCC"/>
          </a:solidFill>
          <a:ln w="12700">
            <a:solidFill>
              <a:srgbClr val="9C4DCC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7500112" y="3657600"/>
            <a:ext cx="2145792" cy="7727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OpenAI text-embedding-3-small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9609328" y="3706368"/>
            <a:ext cx="146304" cy="146304"/>
          </a:xfrm>
          <a:prstGeom prst="ellipse">
            <a:avLst/>
          </a:prstGeom>
          <a:solidFill>
            <a:srgbClr val="9C4DCC"/>
          </a:solidFill>
          <a:ln w="12700">
            <a:solidFill>
              <a:srgbClr val="9C4DCC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9792208" y="3657600"/>
            <a:ext cx="2145792" cy="7727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Google Gemini (Fallback)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5949696" y="4852416"/>
            <a:ext cx="292608" cy="60960"/>
          </a:xfrm>
          <a:prstGeom prst="rect">
            <a:avLst/>
          </a:prstGeom>
          <a:solidFill>
            <a:srgbClr val="9C4DCC">
              <a:alpha val="60000"/>
            </a:srgbClr>
          </a:solidFill>
          <a:ln w="12700">
            <a:solidFill>
              <a:srgbClr val="9C4DCC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355600" y="4913376"/>
            <a:ext cx="11460480" cy="1243584"/>
          </a:xfrm>
          <a:prstGeom prst="rect">
            <a:avLst/>
          </a:prstGeom>
          <a:solidFill>
            <a:srgbClr val="546E7A">
              <a:alpha val="12000"/>
            </a:srgbClr>
          </a:solidFill>
          <a:ln w="19050">
            <a:solidFill>
              <a:srgbClr val="546E7A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352694" y="5369087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200" normalizeH="0" baseline="0" noProof="0" dirty="0">
                <a:ln>
                  <a:noFill/>
                </a:ln>
                <a:solidFill>
                  <a:srgbClr val="546E7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 SOURCES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2733040" y="5010912"/>
            <a:ext cx="146304" cy="146304"/>
          </a:xfrm>
          <a:prstGeom prst="ellipse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2915920" y="4962143"/>
            <a:ext cx="2145792" cy="9555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DrugBank + OpenFDA + WHO ATC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5025136" y="5010912"/>
            <a:ext cx="146304" cy="146304"/>
          </a:xfrm>
          <a:prstGeom prst="ellipse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5208016" y="4962144"/>
            <a:ext cx="2145792" cy="9555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Harrison's / Davidson's / MedlinePlus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7317232" y="5010912"/>
            <a:ext cx="146304" cy="146304"/>
          </a:xfrm>
          <a:prstGeom prst="ellipse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7500112" y="4962144"/>
            <a:ext cx="2145792" cy="9555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WHO Reference Ranges (200+ biomarkers)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9609328" y="5010912"/>
            <a:ext cx="146304" cy="146304"/>
          </a:xfrm>
          <a:prstGeom prst="ellipse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9792208" y="4962144"/>
            <a:ext cx="2034032" cy="9555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lab_reference_ranges.json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0" y="6339840"/>
            <a:ext cx="12192000" cy="512064"/>
          </a:xfrm>
          <a:prstGeom prst="rect">
            <a:avLst/>
          </a:prstGeom>
          <a:solidFill>
            <a:srgbClr val="102040"/>
          </a:solidFill>
          <a:ln w="12700">
            <a:solidFill>
              <a:srgbClr val="102040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365760" y="6339840"/>
            <a:ext cx="11460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BCD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Production-grade  ·  Serverless  ·  Containerized  ·  Auto-Scaling  ·  Modal GPU Warm Containers (sub-1s cold start)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0"/>
          </a:xfrm>
          <a:prstGeom prst="rect">
            <a:avLst/>
          </a:prstGeom>
          <a:solidFill>
            <a:srgbClr val="102040"/>
          </a:solidFill>
          <a:ln w="12700">
            <a:solidFill>
              <a:srgbClr val="102040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87680" y="0"/>
            <a:ext cx="1097280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🧠  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Arial Black" pitchFamily="34" charset="-122"/>
                <a:cs typeface="Arial Black" pitchFamily="34" charset="-120"/>
              </a:rPr>
              <a:t>The AI Brain of RxSense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" name="Shape 2"/>
          <p:cNvSpPr/>
          <p:nvPr/>
        </p:nvSpPr>
        <p:spPr>
          <a:xfrm>
            <a:off x="365760" y="975360"/>
            <a:ext cx="3169920" cy="463296"/>
          </a:xfrm>
          <a:prstGeom prst="rect">
            <a:avLst/>
          </a:prstGeom>
          <a:solidFill>
            <a:srgbClr val="00BCD4">
              <a:alpha val="20000"/>
            </a:srgbClr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63296" y="975360"/>
            <a:ext cx="2974848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133" normalizeH="0" baseline="0" noProof="0" dirty="0">
                <a:ln>
                  <a:noFill/>
                </a:ln>
                <a:solidFill>
                  <a:srgbClr val="00BCD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 / COMPONENT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657600" y="975360"/>
            <a:ext cx="4267200" cy="463296"/>
          </a:xfrm>
          <a:prstGeom prst="rect">
            <a:avLst/>
          </a:prstGeom>
          <a:solidFill>
            <a:srgbClr val="9C4DCC">
              <a:alpha val="20000"/>
            </a:srgbClr>
          </a:solidFill>
          <a:ln w="12700">
            <a:solidFill>
              <a:srgbClr val="9C4DCC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3755136" y="975360"/>
            <a:ext cx="4072128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133" normalizeH="0" baseline="0" noProof="0" dirty="0">
                <a:ln>
                  <a:noFill/>
                </a:ln>
                <a:solidFill>
                  <a:srgbClr val="9C4DC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ROLE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046720" y="975360"/>
            <a:ext cx="3779520" cy="463296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8144256" y="975360"/>
            <a:ext cx="3584448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133" normalizeH="0" baseline="0" noProof="0" dirty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MODULES USED IN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65760" y="1560576"/>
            <a:ext cx="11460480" cy="877824"/>
          </a:xfrm>
          <a:prstGeom prst="rect">
            <a:avLst/>
          </a:prstGeom>
          <a:solidFill>
            <a:srgbClr val="1A2A3F"/>
          </a:solidFill>
          <a:ln w="6350">
            <a:solidFill>
              <a:srgbClr val="253545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65760" y="1560576"/>
            <a:ext cx="73152" cy="87782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87680" y="1609344"/>
            <a:ext cx="304800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CD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OpenAI GPT-4.1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657600" y="1609344"/>
            <a:ext cx="426720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8F4F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Vision extraction · Agent tool-use loops · Drug interaction screening · Medication validation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046720" y="1609344"/>
            <a:ext cx="365760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Report Analyzer · Drug Checker · Symptom Advisor · Doctor Rx-Pad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65760" y="2487168"/>
            <a:ext cx="11460480" cy="877824"/>
          </a:xfrm>
          <a:prstGeom prst="rect">
            <a:avLst/>
          </a:prstGeom>
          <a:solidFill>
            <a:srgbClr val="162030"/>
          </a:solidFill>
          <a:ln w="6350">
            <a:solidFill>
              <a:srgbClr val="253545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65760" y="2487168"/>
            <a:ext cx="73152" cy="877824"/>
          </a:xfrm>
          <a:prstGeom prst="rect">
            <a:avLst/>
          </a:prstGeom>
          <a:solidFill>
            <a:srgbClr val="9C4DCC"/>
          </a:solidFill>
          <a:ln w="12700">
            <a:solidFill>
              <a:srgbClr val="9C4DCC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87680" y="2535936"/>
            <a:ext cx="304800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9C4DC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MedGemma-4b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9C4DC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(Modal GPU)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657600" y="2535936"/>
            <a:ext cx="426720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8F4F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Handwriting OCR + VLM prescription structuring → clean JSON (patient, drugs, dosages)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046720" y="2535936"/>
            <a:ext cx="365760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Prescription Analyzer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(primary model)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65760" y="3413760"/>
            <a:ext cx="11460480" cy="877824"/>
          </a:xfrm>
          <a:prstGeom prst="rect">
            <a:avLst/>
          </a:prstGeom>
          <a:solidFill>
            <a:srgbClr val="1A2A3F"/>
          </a:solidFill>
          <a:ln w="6350">
            <a:solidFill>
              <a:srgbClr val="253545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65760" y="3413760"/>
            <a:ext cx="73152" cy="8778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87680" y="3462528"/>
            <a:ext cx="304800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OpenAI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text-embedding-3-small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657600" y="3462528"/>
            <a:ext cx="426720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8F4F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Symptom query vectorization for semantic cosine similarity search via pgvector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046720" y="3462528"/>
            <a:ext cx="365760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Symptom Advisor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RAG pipeline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65760" y="4340352"/>
            <a:ext cx="11460480" cy="877824"/>
          </a:xfrm>
          <a:prstGeom prst="rect">
            <a:avLst/>
          </a:prstGeom>
          <a:solidFill>
            <a:srgbClr val="162030"/>
          </a:solidFill>
          <a:ln w="6350">
            <a:solidFill>
              <a:srgbClr val="253545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65760" y="4340352"/>
            <a:ext cx="73152" cy="87782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87680" y="4389120"/>
            <a:ext cx="304800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897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pgvector +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897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PostgreSQL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3657600" y="4389120"/>
            <a:ext cx="426720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8F4F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Cosine similarity search across medical textbook chunks (Harrison's, Davidson's, MedlinePlus)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046720" y="4389120"/>
            <a:ext cx="365760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Symptom Advisor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Health Profile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365760" y="5266944"/>
            <a:ext cx="11460480" cy="877824"/>
          </a:xfrm>
          <a:prstGeom prst="rect">
            <a:avLst/>
          </a:prstGeom>
          <a:solidFill>
            <a:srgbClr val="1A2A3F"/>
          </a:solidFill>
          <a:ln w="6350">
            <a:solidFill>
              <a:srgbClr val="253545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365760" y="5266944"/>
            <a:ext cx="73152" cy="877824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87680" y="5315712"/>
            <a:ext cx="304800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546E7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Google Gemini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3657600" y="5315712"/>
            <a:ext cx="426720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8F4F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Fallback LLM for prescription extraction when MedGemma API is unavailable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8046720" y="5315712"/>
            <a:ext cx="365760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Prescription Analyzer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(fallback only)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365760" y="6242304"/>
            <a:ext cx="11460480" cy="463296"/>
          </a:xfrm>
          <a:prstGeom prst="rect">
            <a:avLst/>
          </a:prstGeom>
          <a:solidFill>
            <a:srgbClr val="102040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365760" y="6242304"/>
            <a:ext cx="1146048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CD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RAG Knowledge Base:  Harrison's · Davidson's · MedlinePlus · DrugBank · WHO ATC · OpenFDA · lab_reference_ranges.json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70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5344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$ </a:t>
            </a: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RxSense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Cost Summary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900160" y="0"/>
            <a:ext cx="30480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dirty="0">
                <a:solidFill>
                  <a:srgbClr val="00B4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Patient Journey Estimate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92063" y="792480"/>
            <a:ext cx="950976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D4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typical session:  one prescription scan  +  one report upload  +  AI health insight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87680" y="1170432"/>
            <a:ext cx="11216640" cy="0"/>
          </a:xfrm>
          <a:prstGeom prst="line">
            <a:avLst/>
          </a:prstGeom>
          <a:noFill/>
          <a:ln w="5080">
            <a:solidFill>
              <a:srgbClr val="00B4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79871" y="1304544"/>
            <a:ext cx="9509760" cy="4657344"/>
          </a:xfrm>
          <a:prstGeom prst="roundRect">
            <a:avLst>
              <a:gd name="adj" fmla="val 1571"/>
            </a:avLst>
          </a:prstGeom>
          <a:solidFill>
            <a:srgbClr val="FFFFFF"/>
          </a:solidFill>
          <a:ln w="7620">
            <a:solidFill>
              <a:srgbClr val="D0D5DD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79871" y="1304544"/>
            <a:ext cx="9509760" cy="463296"/>
          </a:xfrm>
          <a:prstGeom prst="roundRect">
            <a:avLst>
              <a:gd name="adj" fmla="val 15789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79871" y="1645920"/>
            <a:ext cx="9509760" cy="121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362751" y="1304544"/>
            <a:ext cx="56692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00B4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</a:t>
            </a:r>
            <a:endParaRPr lang="en-US" sz="1333" dirty="0"/>
          </a:p>
        </p:txBody>
      </p:sp>
      <p:sp>
        <p:nvSpPr>
          <p:cNvPr id="11" name="Text 9"/>
          <p:cNvSpPr/>
          <p:nvPr/>
        </p:nvSpPr>
        <p:spPr>
          <a:xfrm>
            <a:off x="7214911" y="1304544"/>
            <a:ext cx="16459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</a:t>
            </a:r>
            <a:endParaRPr lang="en-US" sz="1333" dirty="0"/>
          </a:p>
        </p:txBody>
      </p:sp>
      <p:sp>
        <p:nvSpPr>
          <p:cNvPr id="12" name="Text 10"/>
          <p:cNvSpPr/>
          <p:nvPr/>
        </p:nvSpPr>
        <p:spPr>
          <a:xfrm>
            <a:off x="9043711" y="1304544"/>
            <a:ext cx="16459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BDT</a:t>
            </a:r>
            <a:endParaRPr lang="en-US" sz="1333" dirty="0"/>
          </a:p>
        </p:txBody>
      </p:sp>
      <p:sp>
        <p:nvSpPr>
          <p:cNvPr id="13" name="Shape 11"/>
          <p:cNvSpPr/>
          <p:nvPr/>
        </p:nvSpPr>
        <p:spPr>
          <a:xfrm>
            <a:off x="7032031" y="1377696"/>
            <a:ext cx="0" cy="341376"/>
          </a:xfrm>
          <a:prstGeom prst="line">
            <a:avLst/>
          </a:prstGeom>
          <a:noFill/>
          <a:ln w="508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860831" y="1377696"/>
            <a:ext cx="0" cy="341376"/>
          </a:xfrm>
          <a:prstGeom prst="line">
            <a:avLst/>
          </a:prstGeom>
          <a:noFill/>
          <a:ln w="508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179871" y="2231136"/>
            <a:ext cx="950976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032031" y="1816608"/>
            <a:ext cx="0" cy="390144"/>
          </a:xfrm>
          <a:prstGeom prst="line">
            <a:avLst/>
          </a:prstGeom>
          <a:noFill/>
          <a:ln w="381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860831" y="1816608"/>
            <a:ext cx="0" cy="390144"/>
          </a:xfrm>
          <a:prstGeom prst="line">
            <a:avLst/>
          </a:prstGeom>
          <a:noFill/>
          <a:ln w="381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362751" y="1767840"/>
            <a:ext cx="56083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 scan (PrescriptoAI)</a:t>
            </a:r>
            <a:endParaRPr lang="en-US" sz="1267" dirty="0"/>
          </a:p>
        </p:txBody>
      </p:sp>
      <p:sp>
        <p:nvSpPr>
          <p:cNvPr id="19" name="Text 17"/>
          <p:cNvSpPr/>
          <p:nvPr/>
        </p:nvSpPr>
        <p:spPr>
          <a:xfrm>
            <a:off x="7129567" y="1767840"/>
            <a:ext cx="17068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3D4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$0.120</a:t>
            </a:r>
            <a:endParaRPr lang="en-US" sz="1267" dirty="0"/>
          </a:p>
        </p:txBody>
      </p:sp>
      <p:sp>
        <p:nvSpPr>
          <p:cNvPr id="20" name="Text 18"/>
          <p:cNvSpPr/>
          <p:nvPr/>
        </p:nvSpPr>
        <p:spPr>
          <a:xfrm>
            <a:off x="8958367" y="1767840"/>
            <a:ext cx="17068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3D4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 13.20</a:t>
            </a:r>
            <a:endParaRPr lang="en-US" sz="1267" dirty="0"/>
          </a:p>
        </p:txBody>
      </p:sp>
      <p:sp>
        <p:nvSpPr>
          <p:cNvPr id="21" name="Shape 19"/>
          <p:cNvSpPr/>
          <p:nvPr/>
        </p:nvSpPr>
        <p:spPr>
          <a:xfrm>
            <a:off x="1192063" y="2231136"/>
            <a:ext cx="9485376" cy="463296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79871" y="2694432"/>
            <a:ext cx="950976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032031" y="2279904"/>
            <a:ext cx="0" cy="390144"/>
          </a:xfrm>
          <a:prstGeom prst="line">
            <a:avLst/>
          </a:prstGeom>
          <a:noFill/>
          <a:ln w="381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860831" y="2279904"/>
            <a:ext cx="0" cy="390144"/>
          </a:xfrm>
          <a:prstGeom prst="line">
            <a:avLst/>
          </a:prstGeom>
          <a:noFill/>
          <a:ln w="381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362751" y="2231136"/>
            <a:ext cx="56083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GPT-4.1 dosage pass</a:t>
            </a:r>
            <a:endParaRPr lang="en-US" sz="1267" dirty="0"/>
          </a:p>
        </p:txBody>
      </p:sp>
      <p:sp>
        <p:nvSpPr>
          <p:cNvPr id="26" name="Text 24"/>
          <p:cNvSpPr/>
          <p:nvPr/>
        </p:nvSpPr>
        <p:spPr>
          <a:xfrm>
            <a:off x="7129567" y="2231136"/>
            <a:ext cx="17068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3D4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$0.008</a:t>
            </a:r>
            <a:endParaRPr lang="en-US" sz="1267" dirty="0"/>
          </a:p>
        </p:txBody>
      </p:sp>
      <p:sp>
        <p:nvSpPr>
          <p:cNvPr id="27" name="Text 25"/>
          <p:cNvSpPr/>
          <p:nvPr/>
        </p:nvSpPr>
        <p:spPr>
          <a:xfrm>
            <a:off x="8958367" y="2231136"/>
            <a:ext cx="17068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3D4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 0.92</a:t>
            </a:r>
            <a:endParaRPr lang="en-US" sz="1267" dirty="0"/>
          </a:p>
        </p:txBody>
      </p:sp>
      <p:sp>
        <p:nvSpPr>
          <p:cNvPr id="28" name="Shape 26"/>
          <p:cNvSpPr/>
          <p:nvPr/>
        </p:nvSpPr>
        <p:spPr>
          <a:xfrm>
            <a:off x="1179871" y="3157728"/>
            <a:ext cx="950976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032031" y="2743200"/>
            <a:ext cx="0" cy="390144"/>
          </a:xfrm>
          <a:prstGeom prst="line">
            <a:avLst/>
          </a:prstGeom>
          <a:noFill/>
          <a:ln w="381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860831" y="2743200"/>
            <a:ext cx="0" cy="390144"/>
          </a:xfrm>
          <a:prstGeom prst="line">
            <a:avLst/>
          </a:prstGeom>
          <a:noFill/>
          <a:ln w="381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362751" y="2694432"/>
            <a:ext cx="56083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report analysis</a:t>
            </a:r>
            <a:endParaRPr lang="en-US" sz="1267" dirty="0"/>
          </a:p>
        </p:txBody>
      </p:sp>
      <p:sp>
        <p:nvSpPr>
          <p:cNvPr id="32" name="Text 30"/>
          <p:cNvSpPr/>
          <p:nvPr/>
        </p:nvSpPr>
        <p:spPr>
          <a:xfrm>
            <a:off x="7129567" y="2694432"/>
            <a:ext cx="17068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3D4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$0.027</a:t>
            </a:r>
            <a:endParaRPr lang="en-US" sz="1267" dirty="0"/>
          </a:p>
        </p:txBody>
      </p:sp>
      <p:sp>
        <p:nvSpPr>
          <p:cNvPr id="33" name="Text 31"/>
          <p:cNvSpPr/>
          <p:nvPr/>
        </p:nvSpPr>
        <p:spPr>
          <a:xfrm>
            <a:off x="8958367" y="2694432"/>
            <a:ext cx="17068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3D4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 3.00</a:t>
            </a:r>
            <a:endParaRPr lang="en-US" sz="1267" dirty="0"/>
          </a:p>
        </p:txBody>
      </p:sp>
      <p:sp>
        <p:nvSpPr>
          <p:cNvPr id="34" name="Shape 32"/>
          <p:cNvSpPr/>
          <p:nvPr/>
        </p:nvSpPr>
        <p:spPr>
          <a:xfrm>
            <a:off x="1192063" y="3157728"/>
            <a:ext cx="9485376" cy="463296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1179871" y="3621024"/>
            <a:ext cx="950976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7032031" y="3206496"/>
            <a:ext cx="0" cy="390144"/>
          </a:xfrm>
          <a:prstGeom prst="line">
            <a:avLst/>
          </a:prstGeom>
          <a:noFill/>
          <a:ln w="381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8860831" y="3206496"/>
            <a:ext cx="0" cy="390144"/>
          </a:xfrm>
          <a:prstGeom prst="line">
            <a:avLst/>
          </a:prstGeom>
          <a:noFill/>
          <a:ln w="381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1362751" y="3157728"/>
            <a:ext cx="56083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check session (8 turns)</a:t>
            </a:r>
            <a:endParaRPr lang="en-US" sz="1267" dirty="0"/>
          </a:p>
        </p:txBody>
      </p:sp>
      <p:sp>
        <p:nvSpPr>
          <p:cNvPr id="39" name="Text 37"/>
          <p:cNvSpPr/>
          <p:nvPr/>
        </p:nvSpPr>
        <p:spPr>
          <a:xfrm>
            <a:off x="7129567" y="3157728"/>
            <a:ext cx="17068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3D4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$0.004</a:t>
            </a:r>
            <a:endParaRPr lang="en-US" sz="1267" dirty="0"/>
          </a:p>
        </p:txBody>
      </p:sp>
      <p:sp>
        <p:nvSpPr>
          <p:cNvPr id="40" name="Text 38"/>
          <p:cNvSpPr/>
          <p:nvPr/>
        </p:nvSpPr>
        <p:spPr>
          <a:xfrm>
            <a:off x="8958367" y="3157728"/>
            <a:ext cx="17068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3D4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 0.41</a:t>
            </a:r>
            <a:endParaRPr lang="en-US" sz="1267" dirty="0"/>
          </a:p>
        </p:txBody>
      </p:sp>
      <p:sp>
        <p:nvSpPr>
          <p:cNvPr id="41" name="Shape 39"/>
          <p:cNvSpPr/>
          <p:nvPr/>
        </p:nvSpPr>
        <p:spPr>
          <a:xfrm>
            <a:off x="1179871" y="4084320"/>
            <a:ext cx="950976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7032031" y="3669792"/>
            <a:ext cx="0" cy="390144"/>
          </a:xfrm>
          <a:prstGeom prst="line">
            <a:avLst/>
          </a:prstGeom>
          <a:noFill/>
          <a:ln w="381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8860831" y="3669792"/>
            <a:ext cx="0" cy="390144"/>
          </a:xfrm>
          <a:prstGeom prst="line">
            <a:avLst/>
          </a:prstGeom>
          <a:noFill/>
          <a:ln w="381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1362751" y="3621024"/>
            <a:ext cx="56083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interaction check</a:t>
            </a:r>
            <a:endParaRPr lang="en-US" sz="1267" dirty="0"/>
          </a:p>
        </p:txBody>
      </p:sp>
      <p:sp>
        <p:nvSpPr>
          <p:cNvPr id="45" name="Text 43"/>
          <p:cNvSpPr/>
          <p:nvPr/>
        </p:nvSpPr>
        <p:spPr>
          <a:xfrm>
            <a:off x="7129567" y="3621024"/>
            <a:ext cx="17068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3D4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$0.004</a:t>
            </a:r>
            <a:endParaRPr lang="en-US" sz="1267" dirty="0"/>
          </a:p>
        </p:txBody>
      </p:sp>
      <p:sp>
        <p:nvSpPr>
          <p:cNvPr id="46" name="Text 44"/>
          <p:cNvSpPr/>
          <p:nvPr/>
        </p:nvSpPr>
        <p:spPr>
          <a:xfrm>
            <a:off x="8958367" y="3621024"/>
            <a:ext cx="17068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3D4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 0.40</a:t>
            </a:r>
            <a:endParaRPr lang="en-US" sz="1267" dirty="0"/>
          </a:p>
        </p:txBody>
      </p:sp>
      <p:sp>
        <p:nvSpPr>
          <p:cNvPr id="47" name="Shape 45"/>
          <p:cNvSpPr/>
          <p:nvPr/>
        </p:nvSpPr>
        <p:spPr>
          <a:xfrm>
            <a:off x="1192063" y="4084320"/>
            <a:ext cx="9485376" cy="463296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1179871" y="4547616"/>
            <a:ext cx="950976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7032031" y="4133088"/>
            <a:ext cx="0" cy="390144"/>
          </a:xfrm>
          <a:prstGeom prst="line">
            <a:avLst/>
          </a:prstGeom>
          <a:noFill/>
          <a:ln w="381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8860831" y="4133088"/>
            <a:ext cx="0" cy="390144"/>
          </a:xfrm>
          <a:prstGeom prst="line">
            <a:avLst/>
          </a:prstGeom>
          <a:noFill/>
          <a:ln w="381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1362751" y="4084320"/>
            <a:ext cx="56083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insights generation</a:t>
            </a:r>
            <a:endParaRPr lang="en-US" sz="1267" dirty="0"/>
          </a:p>
        </p:txBody>
      </p:sp>
      <p:sp>
        <p:nvSpPr>
          <p:cNvPr id="52" name="Text 50"/>
          <p:cNvSpPr/>
          <p:nvPr/>
        </p:nvSpPr>
        <p:spPr>
          <a:xfrm>
            <a:off x="7129567" y="4084320"/>
            <a:ext cx="17068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3D4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$0.084</a:t>
            </a:r>
            <a:endParaRPr lang="en-US" sz="1267" dirty="0"/>
          </a:p>
        </p:txBody>
      </p:sp>
      <p:sp>
        <p:nvSpPr>
          <p:cNvPr id="53" name="Text 51"/>
          <p:cNvSpPr/>
          <p:nvPr/>
        </p:nvSpPr>
        <p:spPr>
          <a:xfrm>
            <a:off x="8958367" y="4084320"/>
            <a:ext cx="17068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3D4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 9.24</a:t>
            </a:r>
            <a:endParaRPr lang="en-US" sz="1267" dirty="0"/>
          </a:p>
        </p:txBody>
      </p:sp>
      <p:sp>
        <p:nvSpPr>
          <p:cNvPr id="54" name="Shape 52"/>
          <p:cNvSpPr/>
          <p:nvPr/>
        </p:nvSpPr>
        <p:spPr>
          <a:xfrm>
            <a:off x="1179871" y="5010912"/>
            <a:ext cx="950976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7032031" y="4596384"/>
            <a:ext cx="0" cy="390144"/>
          </a:xfrm>
          <a:prstGeom prst="line">
            <a:avLst/>
          </a:prstGeom>
          <a:noFill/>
          <a:ln w="381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8860831" y="4596384"/>
            <a:ext cx="0" cy="390144"/>
          </a:xfrm>
          <a:prstGeom prst="line">
            <a:avLst/>
          </a:prstGeom>
          <a:noFill/>
          <a:ln w="381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1362751" y="4547616"/>
            <a:ext cx="56083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summary</a:t>
            </a:r>
            <a:endParaRPr lang="en-US" sz="1267" dirty="0"/>
          </a:p>
        </p:txBody>
      </p:sp>
      <p:sp>
        <p:nvSpPr>
          <p:cNvPr id="58" name="Text 56"/>
          <p:cNvSpPr/>
          <p:nvPr/>
        </p:nvSpPr>
        <p:spPr>
          <a:xfrm>
            <a:off x="7129567" y="4547616"/>
            <a:ext cx="17068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3D4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$0.018</a:t>
            </a:r>
            <a:endParaRPr lang="en-US" sz="1267" dirty="0"/>
          </a:p>
        </p:txBody>
      </p:sp>
      <p:sp>
        <p:nvSpPr>
          <p:cNvPr id="59" name="Text 57"/>
          <p:cNvSpPr/>
          <p:nvPr/>
        </p:nvSpPr>
        <p:spPr>
          <a:xfrm>
            <a:off x="8958367" y="4547616"/>
            <a:ext cx="17068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3D4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 1.98</a:t>
            </a:r>
            <a:endParaRPr lang="en-US" sz="1267" dirty="0"/>
          </a:p>
        </p:txBody>
      </p:sp>
      <p:sp>
        <p:nvSpPr>
          <p:cNvPr id="60" name="Shape 58"/>
          <p:cNvSpPr/>
          <p:nvPr/>
        </p:nvSpPr>
        <p:spPr>
          <a:xfrm>
            <a:off x="1192063" y="5010912"/>
            <a:ext cx="9485376" cy="463296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1179871" y="5474208"/>
            <a:ext cx="950976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7032031" y="5059680"/>
            <a:ext cx="0" cy="390144"/>
          </a:xfrm>
          <a:prstGeom prst="line">
            <a:avLst/>
          </a:prstGeom>
          <a:noFill/>
          <a:ln w="381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8860831" y="5059680"/>
            <a:ext cx="0" cy="390144"/>
          </a:xfrm>
          <a:prstGeom prst="line">
            <a:avLst/>
          </a:prstGeom>
          <a:noFill/>
          <a:ln w="381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1362751" y="5010912"/>
            <a:ext cx="56083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queries (~10 total)</a:t>
            </a:r>
            <a:endParaRPr lang="en-US" sz="1267" dirty="0"/>
          </a:p>
        </p:txBody>
      </p:sp>
      <p:sp>
        <p:nvSpPr>
          <p:cNvPr id="65" name="Text 63"/>
          <p:cNvSpPr/>
          <p:nvPr/>
        </p:nvSpPr>
        <p:spPr>
          <a:xfrm>
            <a:off x="7129567" y="5010912"/>
            <a:ext cx="17068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3D4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~$0.00004</a:t>
            </a:r>
            <a:endParaRPr lang="en-US" sz="1267" dirty="0"/>
          </a:p>
        </p:txBody>
      </p:sp>
      <p:sp>
        <p:nvSpPr>
          <p:cNvPr id="66" name="Text 64"/>
          <p:cNvSpPr/>
          <p:nvPr/>
        </p:nvSpPr>
        <p:spPr>
          <a:xfrm>
            <a:off x="8958367" y="5010912"/>
            <a:ext cx="17068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3D4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 0.004</a:t>
            </a:r>
            <a:endParaRPr lang="en-US" sz="1267" dirty="0"/>
          </a:p>
        </p:txBody>
      </p:sp>
      <p:sp>
        <p:nvSpPr>
          <p:cNvPr id="67" name="Shape 65"/>
          <p:cNvSpPr/>
          <p:nvPr/>
        </p:nvSpPr>
        <p:spPr>
          <a:xfrm>
            <a:off x="1192063" y="5474208"/>
            <a:ext cx="9485376" cy="46329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7032031" y="5522976"/>
            <a:ext cx="0" cy="390144"/>
          </a:xfrm>
          <a:prstGeom prst="line">
            <a:avLst/>
          </a:prstGeom>
          <a:noFill/>
          <a:ln w="381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8860831" y="5522976"/>
            <a:ext cx="0" cy="390144"/>
          </a:xfrm>
          <a:prstGeom prst="line">
            <a:avLst/>
          </a:prstGeom>
          <a:noFill/>
          <a:ln w="381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1362751" y="5474208"/>
            <a:ext cx="56083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00B4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400" dirty="0"/>
          </a:p>
        </p:txBody>
      </p:sp>
      <p:sp>
        <p:nvSpPr>
          <p:cNvPr id="71" name="Text 69"/>
          <p:cNvSpPr/>
          <p:nvPr/>
        </p:nvSpPr>
        <p:spPr>
          <a:xfrm>
            <a:off x="7129567" y="5474208"/>
            <a:ext cx="17068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~$0.265</a:t>
            </a:r>
            <a:endParaRPr lang="en-US" sz="1400" dirty="0"/>
          </a:p>
        </p:txBody>
      </p:sp>
      <p:sp>
        <p:nvSpPr>
          <p:cNvPr id="72" name="Text 70"/>
          <p:cNvSpPr/>
          <p:nvPr/>
        </p:nvSpPr>
        <p:spPr>
          <a:xfrm>
            <a:off x="8958367" y="5474208"/>
            <a:ext cx="17068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~Tk 29.17</a:t>
            </a:r>
            <a:endParaRPr lang="en-US" sz="1400" dirty="0"/>
          </a:p>
        </p:txBody>
      </p:sp>
      <p:sp>
        <p:nvSpPr>
          <p:cNvPr id="73" name="Shape 71"/>
          <p:cNvSpPr/>
          <p:nvPr/>
        </p:nvSpPr>
        <p:spPr>
          <a:xfrm>
            <a:off x="1179871" y="6156960"/>
            <a:ext cx="9509760" cy="548640"/>
          </a:xfrm>
          <a:prstGeom prst="roundRect">
            <a:avLst>
              <a:gd name="adj" fmla="val 11111"/>
            </a:avLst>
          </a:prstGeom>
          <a:solidFill>
            <a:srgbClr val="EEF0F4"/>
          </a:solidFill>
          <a:ln w="1905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1179871" y="6156960"/>
            <a:ext cx="73152" cy="54864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1399327" y="6156960"/>
            <a:ext cx="920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3D4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+ prescription chat Q&amp;A adds  ~Tk 0.05 per message  on top.</a:t>
            </a:r>
            <a:endParaRPr lang="en-US" sz="1333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7782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19456" cy="87782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341376" y="121920"/>
            <a:ext cx="20726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4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41376" y="438912"/>
            <a:ext cx="1158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 ANALYZER</a:t>
            </a:r>
            <a:endParaRPr lang="en-US" sz="2667" dirty="0"/>
          </a:p>
        </p:txBody>
      </p:sp>
      <p:sp>
        <p:nvSpPr>
          <p:cNvPr id="6" name="Shape 4"/>
          <p:cNvSpPr/>
          <p:nvPr/>
        </p:nvSpPr>
        <p:spPr>
          <a:xfrm>
            <a:off x="268224" y="1024128"/>
            <a:ext cx="3657600" cy="707136"/>
          </a:xfrm>
          <a:prstGeom prst="roundRect">
            <a:avLst>
              <a:gd name="adj" fmla="val 13793"/>
            </a:avLst>
          </a:prstGeom>
          <a:solidFill>
            <a:srgbClr val="E0F7FA"/>
          </a:solidFill>
          <a:ln w="12700">
            <a:solidFill>
              <a:srgbClr val="00BCD4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414528" y="1097281"/>
            <a:ext cx="3364992" cy="36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Upload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4528" y="1391839"/>
            <a:ext cx="3364992" cy="296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JPEG · PNG · HEIC · AVIF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68224" y="1939708"/>
            <a:ext cx="3657600" cy="707136"/>
          </a:xfrm>
          <a:prstGeom prst="roundRect">
            <a:avLst>
              <a:gd name="adj" fmla="val 13793"/>
            </a:avLst>
          </a:prstGeom>
          <a:solidFill>
            <a:srgbClr val="2D3748"/>
          </a:solidFill>
          <a:ln w="12700">
            <a:solidFill>
              <a:srgbClr val="3D4A5C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/>
          <p:nvPr/>
        </p:nvSpPr>
        <p:spPr>
          <a:xfrm>
            <a:off x="414528" y="2012861"/>
            <a:ext cx="3364992" cy="36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Normalization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14528" y="2307419"/>
            <a:ext cx="3364992" cy="296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High-contrast JPEG conversion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68224" y="2855288"/>
            <a:ext cx="3657600" cy="707136"/>
          </a:xfrm>
          <a:prstGeom prst="roundRect">
            <a:avLst>
              <a:gd name="adj" fmla="val 13793"/>
            </a:avLst>
          </a:prstGeom>
          <a:solidFill>
            <a:srgbClr val="E0F7FA"/>
          </a:solidFill>
          <a:ln w="12700">
            <a:solidFill>
              <a:srgbClr val="00BCD4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5" name="Text 13"/>
          <p:cNvSpPr/>
          <p:nvPr/>
        </p:nvSpPr>
        <p:spPr>
          <a:xfrm>
            <a:off x="414528" y="2928441"/>
            <a:ext cx="3364992" cy="36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EasyOCR + PrescriptoAI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14528" y="3222999"/>
            <a:ext cx="3364992" cy="296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extraction + bounding boxes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68224" y="3771004"/>
            <a:ext cx="3657600" cy="707136"/>
          </a:xfrm>
          <a:prstGeom prst="roundRect">
            <a:avLst>
              <a:gd name="adj" fmla="val 13793"/>
            </a:avLst>
          </a:prstGeom>
          <a:solidFill>
            <a:srgbClr val="2D3748"/>
          </a:solidFill>
          <a:ln w="12700">
            <a:solidFill>
              <a:srgbClr val="3D4A5C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9" name="Text 17"/>
          <p:cNvSpPr/>
          <p:nvPr/>
        </p:nvSpPr>
        <p:spPr>
          <a:xfrm>
            <a:off x="414528" y="3844157"/>
            <a:ext cx="3364992" cy="36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MedGemma-4b (Modal GPU)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14528" y="4138715"/>
            <a:ext cx="3364992" cy="296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extraction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68224" y="4686720"/>
            <a:ext cx="3657600" cy="707136"/>
          </a:xfrm>
          <a:prstGeom prst="roundRect">
            <a:avLst>
              <a:gd name="adj" fmla="val 13793"/>
            </a:avLst>
          </a:prstGeom>
          <a:solidFill>
            <a:srgbClr val="E0F7FA"/>
          </a:solidFill>
          <a:ln w="12700">
            <a:solidFill>
              <a:srgbClr val="00BCD4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3" name="Text 21"/>
          <p:cNvSpPr/>
          <p:nvPr/>
        </p:nvSpPr>
        <p:spPr>
          <a:xfrm>
            <a:off x="414528" y="4759873"/>
            <a:ext cx="3364992" cy="36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pg_trgm Fuzzy Match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14528" y="5054431"/>
            <a:ext cx="3364992" cy="296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DrugBank ATC + brand-to-generic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68224" y="5602436"/>
            <a:ext cx="3657600" cy="707136"/>
          </a:xfrm>
          <a:prstGeom prst="roundRect">
            <a:avLst>
              <a:gd name="adj" fmla="val 13793"/>
            </a:avLst>
          </a:prstGeom>
          <a:solidFill>
            <a:srgbClr val="2D3748"/>
          </a:solidFill>
          <a:ln w="12700">
            <a:solidFill>
              <a:srgbClr val="3D4A5C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7" name="Text 25"/>
          <p:cNvSpPr/>
          <p:nvPr/>
        </p:nvSpPr>
        <p:spPr>
          <a:xfrm>
            <a:off x="414528" y="5675589"/>
            <a:ext cx="3364992" cy="36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Vectorize &amp; Store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14528" y="5970147"/>
            <a:ext cx="3364992" cy="296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profile embeddings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328160" y="1024128"/>
            <a:ext cx="7559040" cy="1341120"/>
          </a:xfrm>
          <a:prstGeom prst="roundRect">
            <a:avLst>
              <a:gd name="adj" fmla="val 5455"/>
            </a:avLst>
          </a:prstGeom>
          <a:solidFill>
            <a:srgbClr val="FAFAFA"/>
          </a:solidFill>
          <a:ln w="19050">
            <a:solidFill>
              <a:srgbClr val="00BCD4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30" name="Shape 28"/>
          <p:cNvSpPr/>
          <p:nvPr/>
        </p:nvSpPr>
        <p:spPr>
          <a:xfrm>
            <a:off x="4474464" y="1109472"/>
            <a:ext cx="2194560" cy="316992"/>
          </a:xfrm>
          <a:prstGeom prst="roundRect">
            <a:avLst>
              <a:gd name="adj" fmla="val 11538"/>
            </a:avLst>
          </a:prstGeom>
          <a:solidFill>
            <a:srgbClr val="E0F7FA"/>
          </a:solidFill>
          <a:ln w="12700">
            <a:solidFill>
              <a:srgbClr val="E0F7F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1" name="Text 29"/>
          <p:cNvSpPr/>
          <p:nvPr/>
        </p:nvSpPr>
        <p:spPr>
          <a:xfrm>
            <a:off x="4511040" y="1133856"/>
            <a:ext cx="20726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b="1" kern="0" spc="267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133" dirty="0"/>
          </a:p>
        </p:txBody>
      </p:sp>
      <p:sp>
        <p:nvSpPr>
          <p:cNvPr id="32" name="Shape 30"/>
          <p:cNvSpPr/>
          <p:nvPr/>
        </p:nvSpPr>
        <p:spPr>
          <a:xfrm>
            <a:off x="4450080" y="1487424"/>
            <a:ext cx="7315200" cy="0"/>
          </a:xfrm>
          <a:prstGeom prst="line">
            <a:avLst/>
          </a:prstGeom>
          <a:noFill/>
          <a:ln w="6350">
            <a:solidFill>
              <a:srgbClr val="00BC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3" name="Text 31"/>
          <p:cNvSpPr/>
          <p:nvPr/>
        </p:nvSpPr>
        <p:spPr>
          <a:xfrm>
            <a:off x="4511040" y="1548384"/>
            <a:ext cx="71932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Handwritten prescription photos (JPEG, PNG, HEIC, AVIF)</a:t>
            </a:r>
            <a:endParaRPr lang="en-US" sz="1600" b="1" dirty="0"/>
          </a:p>
          <a:p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DrugBank master drug catalog — ATC codes, brand-to-generic</a:t>
            </a:r>
            <a:endParaRPr lang="en-US" sz="1600" b="1" dirty="0"/>
          </a:p>
          <a:p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National standard drug lists + WHO classification</a:t>
            </a:r>
            <a:endParaRPr lang="en-US" sz="1600" b="1" dirty="0"/>
          </a:p>
        </p:txBody>
      </p:sp>
      <p:sp>
        <p:nvSpPr>
          <p:cNvPr id="34" name="Shape 32"/>
          <p:cNvSpPr/>
          <p:nvPr/>
        </p:nvSpPr>
        <p:spPr>
          <a:xfrm>
            <a:off x="4328160" y="2462784"/>
            <a:ext cx="7559040" cy="2243328"/>
          </a:xfrm>
          <a:prstGeom prst="roundRect">
            <a:avLst>
              <a:gd name="adj" fmla="val 3947"/>
            </a:avLst>
          </a:prstGeom>
          <a:solidFill>
            <a:srgbClr val="FAFAFA"/>
          </a:solidFill>
          <a:ln w="19050">
            <a:solidFill>
              <a:srgbClr val="9C27B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35" name="Shape 33"/>
          <p:cNvSpPr/>
          <p:nvPr/>
        </p:nvSpPr>
        <p:spPr>
          <a:xfrm>
            <a:off x="4474464" y="2548128"/>
            <a:ext cx="2194560" cy="316992"/>
          </a:xfrm>
          <a:prstGeom prst="roundRect">
            <a:avLst>
              <a:gd name="adj" fmla="val 11538"/>
            </a:avLst>
          </a:prstGeom>
          <a:solidFill>
            <a:srgbClr val="F3E5F5"/>
          </a:solidFill>
          <a:ln w="12700">
            <a:solidFill>
              <a:srgbClr val="F3E5F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6" name="Text 34"/>
          <p:cNvSpPr/>
          <p:nvPr/>
        </p:nvSpPr>
        <p:spPr>
          <a:xfrm>
            <a:off x="4511040" y="2572512"/>
            <a:ext cx="20726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b="1" kern="0" spc="267" dirty="0">
                <a:solidFill>
                  <a:srgbClr val="9C2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ROLE</a:t>
            </a:r>
            <a:endParaRPr lang="en-US" sz="1133" dirty="0"/>
          </a:p>
        </p:txBody>
      </p:sp>
      <p:sp>
        <p:nvSpPr>
          <p:cNvPr id="37" name="Shape 35"/>
          <p:cNvSpPr/>
          <p:nvPr/>
        </p:nvSpPr>
        <p:spPr>
          <a:xfrm>
            <a:off x="4450080" y="2926080"/>
            <a:ext cx="7315200" cy="0"/>
          </a:xfrm>
          <a:prstGeom prst="line">
            <a:avLst/>
          </a:prstGeom>
          <a:noFill/>
          <a:ln w="6350">
            <a:solidFill>
              <a:srgbClr val="9C27B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8" name="Text 36"/>
          <p:cNvSpPr/>
          <p:nvPr/>
        </p:nvSpPr>
        <p:spPr>
          <a:xfrm>
            <a:off x="4511040" y="2987040"/>
            <a:ext cx="7193280" cy="1182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MedGemma-4b-it on serverless Modal GPU: structures OCR text into clean JSON (patient, doctor, drugs, dosages)</a:t>
            </a:r>
            <a:endParaRPr lang="en-US" sz="1600" b="1" dirty="0"/>
          </a:p>
          <a:p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PrescriptoAI API: initial text extraction with bounding-box map</a:t>
            </a:r>
            <a:endParaRPr lang="en-US" sz="1600" b="1" dirty="0"/>
          </a:p>
          <a:p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EasyOCR: English + Bengali text pre-pass</a:t>
            </a:r>
            <a:endParaRPr lang="en-US" sz="1600" b="1" dirty="0"/>
          </a:p>
          <a:p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OpenAI GPT-4.1 Vision: extracts per-drug dosage, frequency, duration, meal instructions</a:t>
            </a:r>
            <a:endParaRPr lang="en-US" sz="1600" b="1" dirty="0"/>
          </a:p>
        </p:txBody>
      </p:sp>
      <p:sp>
        <p:nvSpPr>
          <p:cNvPr id="39" name="Shape 37"/>
          <p:cNvSpPr/>
          <p:nvPr/>
        </p:nvSpPr>
        <p:spPr>
          <a:xfrm>
            <a:off x="4328160" y="4852416"/>
            <a:ext cx="7559040" cy="1780032"/>
          </a:xfrm>
          <a:prstGeom prst="roundRect">
            <a:avLst>
              <a:gd name="adj" fmla="val 3297"/>
            </a:avLst>
          </a:prstGeom>
          <a:solidFill>
            <a:srgbClr val="FAFAFA"/>
          </a:solidFill>
          <a:ln w="19050">
            <a:solidFill>
              <a:srgbClr val="F59E0B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40" name="Shape 38"/>
          <p:cNvSpPr/>
          <p:nvPr/>
        </p:nvSpPr>
        <p:spPr>
          <a:xfrm>
            <a:off x="4474464" y="4980630"/>
            <a:ext cx="2194560" cy="316992"/>
          </a:xfrm>
          <a:prstGeom prst="roundRect">
            <a:avLst>
              <a:gd name="adj" fmla="val 11538"/>
            </a:avLst>
          </a:prstGeom>
          <a:solidFill>
            <a:srgbClr val="FFF8E1"/>
          </a:solidFill>
          <a:ln w="12700">
            <a:solidFill>
              <a:srgbClr val="FFF8E1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1" name="Text 39"/>
          <p:cNvSpPr/>
          <p:nvPr/>
        </p:nvSpPr>
        <p:spPr>
          <a:xfrm>
            <a:off x="4511040" y="5005014"/>
            <a:ext cx="20726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b="1" kern="0" spc="267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ROLE</a:t>
            </a:r>
            <a:endParaRPr lang="en-US" sz="1133" dirty="0"/>
          </a:p>
        </p:txBody>
      </p:sp>
      <p:sp>
        <p:nvSpPr>
          <p:cNvPr id="42" name="Shape 40"/>
          <p:cNvSpPr/>
          <p:nvPr/>
        </p:nvSpPr>
        <p:spPr>
          <a:xfrm>
            <a:off x="4450080" y="5358582"/>
            <a:ext cx="7315200" cy="0"/>
          </a:xfrm>
          <a:prstGeom prst="line">
            <a:avLst/>
          </a:prstGeom>
          <a:noFill/>
          <a:ln w="6350">
            <a:solidFill>
              <a:srgbClr val="F59E0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3" name="Text 41"/>
          <p:cNvSpPr/>
          <p:nvPr/>
        </p:nvSpPr>
        <p:spPr>
          <a:xfrm>
            <a:off x="4511040" y="5366432"/>
            <a:ext cx="7193280" cy="1119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pg_trgm corrects OCR errors (e.g. 'Npa' → 'Napa')</a:t>
            </a:r>
            <a:endParaRPr lang="en-US" sz="1600" b="1" dirty="0"/>
          </a:p>
          <a:p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Structured dosage metadata vectorized via OpenAI embeddings</a:t>
            </a:r>
            <a:endParaRPr lang="en-US" sz="1600" b="1" dirty="0"/>
          </a:p>
          <a:p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Grounding future Claude conversations in active medications</a:t>
            </a:r>
            <a:endParaRPr lang="en-US" sz="1600" b="1" dirty="0"/>
          </a:p>
          <a:p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Confidence &lt;50% → flagged needs_review; human oversight mandatory</a:t>
            </a:r>
            <a:endParaRPr lang="en-US" sz="1600" b="1" dirty="0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DD18A46-9558-3ECD-82A7-14125742F732}"/>
              </a:ext>
            </a:extLst>
          </p:cNvPr>
          <p:cNvCxnSpPr>
            <a:stCxn id="6" idx="2"/>
            <a:endCxn id="10" idx="0"/>
          </p:cNvCxnSpPr>
          <p:nvPr/>
        </p:nvCxnSpPr>
        <p:spPr>
          <a:xfrm>
            <a:off x="2097024" y="1731264"/>
            <a:ext cx="0" cy="2084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E0F8062-93FD-9A34-5F8E-DF61111D74CE}"/>
              </a:ext>
            </a:extLst>
          </p:cNvPr>
          <p:cNvCxnSpPr>
            <a:stCxn id="10" idx="2"/>
            <a:endCxn id="14" idx="0"/>
          </p:cNvCxnSpPr>
          <p:nvPr/>
        </p:nvCxnSpPr>
        <p:spPr>
          <a:xfrm>
            <a:off x="2097024" y="2646844"/>
            <a:ext cx="0" cy="2084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BC0132CE-E571-60EF-60A4-EDF58748939D}"/>
              </a:ext>
            </a:extLst>
          </p:cNvPr>
          <p:cNvCxnSpPr>
            <a:stCxn id="14" idx="2"/>
            <a:endCxn id="18" idx="0"/>
          </p:cNvCxnSpPr>
          <p:nvPr/>
        </p:nvCxnSpPr>
        <p:spPr>
          <a:xfrm>
            <a:off x="2097024" y="3562424"/>
            <a:ext cx="0" cy="2085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AA47E2A5-1935-6D0C-471B-D7004CEDF69C}"/>
              </a:ext>
            </a:extLst>
          </p:cNvPr>
          <p:cNvCxnSpPr>
            <a:stCxn id="18" idx="2"/>
            <a:endCxn id="22" idx="0"/>
          </p:cNvCxnSpPr>
          <p:nvPr/>
        </p:nvCxnSpPr>
        <p:spPr>
          <a:xfrm>
            <a:off x="2097024" y="4478140"/>
            <a:ext cx="0" cy="2085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17F5B0C5-3C19-4215-97D7-6E7256F0EB06}"/>
              </a:ext>
            </a:extLst>
          </p:cNvPr>
          <p:cNvCxnSpPr>
            <a:stCxn id="22" idx="2"/>
            <a:endCxn id="26" idx="0"/>
          </p:cNvCxnSpPr>
          <p:nvPr/>
        </p:nvCxnSpPr>
        <p:spPr>
          <a:xfrm>
            <a:off x="2097024" y="5393856"/>
            <a:ext cx="0" cy="2085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7782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19456" cy="877824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341376" y="121920"/>
            <a:ext cx="20726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400" dirty="0">
                <a:solidFill>
                  <a:srgbClr val="9C2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41376" y="438912"/>
            <a:ext cx="1158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ANALYZER</a:t>
            </a:r>
            <a:endParaRPr lang="en-US" sz="2667" dirty="0"/>
          </a:p>
        </p:txBody>
      </p:sp>
      <p:sp>
        <p:nvSpPr>
          <p:cNvPr id="6" name="Shape 4"/>
          <p:cNvSpPr/>
          <p:nvPr/>
        </p:nvSpPr>
        <p:spPr>
          <a:xfrm>
            <a:off x="268224" y="1024128"/>
            <a:ext cx="3657600" cy="707136"/>
          </a:xfrm>
          <a:prstGeom prst="roundRect">
            <a:avLst>
              <a:gd name="adj" fmla="val 13793"/>
            </a:avLst>
          </a:prstGeom>
          <a:solidFill>
            <a:srgbClr val="F3E5F5"/>
          </a:solidFill>
          <a:ln w="12700">
            <a:solidFill>
              <a:srgbClr val="9C27B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414528" y="1097281"/>
            <a:ext cx="3364992" cy="36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Upload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4528" y="1391839"/>
            <a:ext cx="3364992" cy="296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CBC · Lipid · Thyroid · Metabolic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64160" y="1952669"/>
            <a:ext cx="3657600" cy="707136"/>
          </a:xfrm>
          <a:prstGeom prst="roundRect">
            <a:avLst>
              <a:gd name="adj" fmla="val 13793"/>
            </a:avLst>
          </a:prstGeom>
          <a:solidFill>
            <a:srgbClr val="2D3748"/>
          </a:solidFill>
          <a:ln w="12700">
            <a:solidFill>
              <a:srgbClr val="3D4A5C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/>
          <p:nvPr/>
        </p:nvSpPr>
        <p:spPr>
          <a:xfrm>
            <a:off x="410464" y="2025822"/>
            <a:ext cx="3364992" cy="36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Normalization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10464" y="2320380"/>
            <a:ext cx="3364992" cy="296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for Claude Vision API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64160" y="2877594"/>
            <a:ext cx="3657600" cy="707136"/>
          </a:xfrm>
          <a:prstGeom prst="roundRect">
            <a:avLst>
              <a:gd name="adj" fmla="val 13793"/>
            </a:avLst>
          </a:prstGeom>
          <a:solidFill>
            <a:srgbClr val="F3E5F5"/>
          </a:solidFill>
          <a:ln w="12700">
            <a:solidFill>
              <a:srgbClr val="9C27B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5" name="Text 13"/>
          <p:cNvSpPr/>
          <p:nvPr/>
        </p:nvSpPr>
        <p:spPr>
          <a:xfrm>
            <a:off x="410464" y="2950747"/>
            <a:ext cx="3364992" cy="36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GPT-4.1 Vision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10464" y="3245305"/>
            <a:ext cx="3364992" cy="296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layout parsing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64160" y="3802519"/>
            <a:ext cx="3657600" cy="707136"/>
          </a:xfrm>
          <a:prstGeom prst="roundRect">
            <a:avLst>
              <a:gd name="adj" fmla="val 13793"/>
            </a:avLst>
          </a:prstGeom>
          <a:solidFill>
            <a:srgbClr val="2D3748"/>
          </a:solidFill>
          <a:ln w="12700">
            <a:solidFill>
              <a:srgbClr val="3D4A5C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9" name="Text 17"/>
          <p:cNvSpPr/>
          <p:nvPr/>
        </p:nvSpPr>
        <p:spPr>
          <a:xfrm>
            <a:off x="410464" y="3875672"/>
            <a:ext cx="3364992" cy="36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Enrichment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10464" y="4170230"/>
            <a:ext cx="3364992" cy="296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+ lab_reference_ranges.json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64160" y="4730495"/>
            <a:ext cx="3657600" cy="707136"/>
          </a:xfrm>
          <a:prstGeom prst="roundRect">
            <a:avLst>
              <a:gd name="adj" fmla="val 13793"/>
            </a:avLst>
          </a:prstGeom>
          <a:solidFill>
            <a:srgbClr val="F3E5F5"/>
          </a:solidFill>
          <a:ln w="12700">
            <a:solidFill>
              <a:srgbClr val="9C27B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3" name="Text 21"/>
          <p:cNvSpPr/>
          <p:nvPr/>
        </p:nvSpPr>
        <p:spPr>
          <a:xfrm>
            <a:off x="410464" y="4803648"/>
            <a:ext cx="3364992" cy="36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Computation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10464" y="5098206"/>
            <a:ext cx="3364992" cy="296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/ High / Low / Critical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64160" y="5658471"/>
            <a:ext cx="3657600" cy="707136"/>
          </a:xfrm>
          <a:prstGeom prst="roundRect">
            <a:avLst>
              <a:gd name="adj" fmla="val 13793"/>
            </a:avLst>
          </a:prstGeom>
          <a:solidFill>
            <a:srgbClr val="2D3748"/>
          </a:solidFill>
          <a:ln w="12700">
            <a:solidFill>
              <a:srgbClr val="3D4A5C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7" name="Text 25"/>
          <p:cNvSpPr/>
          <p:nvPr/>
        </p:nvSpPr>
        <p:spPr>
          <a:xfrm>
            <a:off x="410464" y="5731624"/>
            <a:ext cx="3364992" cy="36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Vectorize &amp; Store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10464" y="6026182"/>
            <a:ext cx="3364992" cy="296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trend tracking enabled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328160" y="1024128"/>
            <a:ext cx="7559040" cy="1341120"/>
          </a:xfrm>
          <a:prstGeom prst="roundRect">
            <a:avLst>
              <a:gd name="adj" fmla="val 5455"/>
            </a:avLst>
          </a:prstGeom>
          <a:solidFill>
            <a:srgbClr val="FAFAFA"/>
          </a:solidFill>
          <a:ln w="19050">
            <a:solidFill>
              <a:srgbClr val="00BCD4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30" name="Shape 28"/>
          <p:cNvSpPr/>
          <p:nvPr/>
        </p:nvSpPr>
        <p:spPr>
          <a:xfrm>
            <a:off x="4474464" y="1109472"/>
            <a:ext cx="2194560" cy="316992"/>
          </a:xfrm>
          <a:prstGeom prst="roundRect">
            <a:avLst>
              <a:gd name="adj" fmla="val 11538"/>
            </a:avLst>
          </a:prstGeom>
          <a:solidFill>
            <a:srgbClr val="E0F7FA"/>
          </a:solidFill>
          <a:ln w="12700">
            <a:solidFill>
              <a:srgbClr val="E0F7F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1" name="Text 29"/>
          <p:cNvSpPr/>
          <p:nvPr/>
        </p:nvSpPr>
        <p:spPr>
          <a:xfrm>
            <a:off x="4511040" y="1133856"/>
            <a:ext cx="20726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b="1" kern="0" spc="267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133" dirty="0"/>
          </a:p>
        </p:txBody>
      </p:sp>
      <p:sp>
        <p:nvSpPr>
          <p:cNvPr id="32" name="Shape 30"/>
          <p:cNvSpPr/>
          <p:nvPr/>
        </p:nvSpPr>
        <p:spPr>
          <a:xfrm>
            <a:off x="4450080" y="1487424"/>
            <a:ext cx="7315200" cy="0"/>
          </a:xfrm>
          <a:prstGeom prst="line">
            <a:avLst/>
          </a:prstGeom>
          <a:noFill/>
          <a:ln w="6350">
            <a:solidFill>
              <a:srgbClr val="00BC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3" name="Text 31"/>
          <p:cNvSpPr/>
          <p:nvPr/>
        </p:nvSpPr>
        <p:spPr>
          <a:xfrm>
            <a:off x="4511040" y="1548383"/>
            <a:ext cx="7193280" cy="929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Lab report images: CBC, Lipid Panel, Thyroid, Metabolic Panel</a:t>
            </a:r>
            <a:endParaRPr lang="en-US" sz="1600" b="1" dirty="0"/>
          </a:p>
          <a:p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lab_reference_ranges.json: 550+ biomarkers mapped to WHO global standards</a:t>
            </a:r>
            <a:endParaRPr lang="en-US" sz="1600" b="1" dirty="0"/>
          </a:p>
          <a:p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Fallback: lab_test_info database table with standard reference thresholds</a:t>
            </a:r>
            <a:endParaRPr lang="en-US" sz="1600" b="1" dirty="0"/>
          </a:p>
        </p:txBody>
      </p:sp>
      <p:sp>
        <p:nvSpPr>
          <p:cNvPr id="34" name="Shape 32"/>
          <p:cNvSpPr/>
          <p:nvPr/>
        </p:nvSpPr>
        <p:spPr>
          <a:xfrm>
            <a:off x="4328160" y="2462784"/>
            <a:ext cx="7559040" cy="2194560"/>
          </a:xfrm>
          <a:prstGeom prst="roundRect">
            <a:avLst>
              <a:gd name="adj" fmla="val 4225"/>
            </a:avLst>
          </a:prstGeom>
          <a:solidFill>
            <a:srgbClr val="FAFAFA"/>
          </a:solidFill>
          <a:ln w="19050">
            <a:solidFill>
              <a:srgbClr val="9C27B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35" name="Shape 33"/>
          <p:cNvSpPr/>
          <p:nvPr/>
        </p:nvSpPr>
        <p:spPr>
          <a:xfrm>
            <a:off x="4474464" y="2548128"/>
            <a:ext cx="2194560" cy="316992"/>
          </a:xfrm>
          <a:prstGeom prst="roundRect">
            <a:avLst>
              <a:gd name="adj" fmla="val 11538"/>
            </a:avLst>
          </a:prstGeom>
          <a:solidFill>
            <a:srgbClr val="F3E5F5"/>
          </a:solidFill>
          <a:ln w="12700">
            <a:solidFill>
              <a:srgbClr val="F3E5F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6" name="Text 34"/>
          <p:cNvSpPr/>
          <p:nvPr/>
        </p:nvSpPr>
        <p:spPr>
          <a:xfrm>
            <a:off x="4511040" y="2572512"/>
            <a:ext cx="20726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b="1" kern="0" spc="267" dirty="0">
                <a:solidFill>
                  <a:srgbClr val="9C2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ROLE</a:t>
            </a:r>
            <a:endParaRPr lang="en-US" sz="1133" dirty="0"/>
          </a:p>
        </p:txBody>
      </p:sp>
      <p:sp>
        <p:nvSpPr>
          <p:cNvPr id="37" name="Shape 35"/>
          <p:cNvSpPr/>
          <p:nvPr/>
        </p:nvSpPr>
        <p:spPr>
          <a:xfrm>
            <a:off x="4450080" y="2926080"/>
            <a:ext cx="7315200" cy="0"/>
          </a:xfrm>
          <a:prstGeom prst="line">
            <a:avLst/>
          </a:prstGeom>
          <a:noFill/>
          <a:ln w="6350">
            <a:solidFill>
              <a:srgbClr val="9C27B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8" name="Text 36"/>
          <p:cNvSpPr/>
          <p:nvPr/>
        </p:nvSpPr>
        <p:spPr>
          <a:xfrm>
            <a:off x="4511040" y="2987039"/>
            <a:ext cx="7193280" cy="14704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OpenAI GPT-4.1 Vision: reads tabular layouts, extracts values + units + H/L/Critical flags</a:t>
            </a:r>
            <a:endParaRPr lang="en-US" sz="1600" b="1" dirty="0"/>
          </a:p>
          <a:p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Multi-stage reference enrichment: JSON parsed → matched against local dict → DB fallback</a:t>
            </a:r>
            <a:endParaRPr lang="en-US" sz="1600" b="1" dirty="0"/>
          </a:p>
          <a:p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Contextual flagging: age + gender used to compute personalized status (e.g. Hb differs male/female)</a:t>
            </a:r>
            <a:endParaRPr lang="en-US" sz="1600" b="1" dirty="0"/>
          </a:p>
        </p:txBody>
      </p:sp>
      <p:sp>
        <p:nvSpPr>
          <p:cNvPr id="39" name="Shape 37"/>
          <p:cNvSpPr/>
          <p:nvPr/>
        </p:nvSpPr>
        <p:spPr>
          <a:xfrm>
            <a:off x="4328160" y="4803648"/>
            <a:ext cx="7559040" cy="1828800"/>
          </a:xfrm>
          <a:prstGeom prst="roundRect">
            <a:avLst>
              <a:gd name="adj" fmla="val 3125"/>
            </a:avLst>
          </a:prstGeom>
          <a:solidFill>
            <a:srgbClr val="FAFAFA"/>
          </a:solidFill>
          <a:ln w="19050">
            <a:solidFill>
              <a:srgbClr val="F59E0B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40" name="Shape 38"/>
          <p:cNvSpPr/>
          <p:nvPr/>
        </p:nvSpPr>
        <p:spPr>
          <a:xfrm>
            <a:off x="4474464" y="4917704"/>
            <a:ext cx="2194560" cy="316992"/>
          </a:xfrm>
          <a:prstGeom prst="roundRect">
            <a:avLst>
              <a:gd name="adj" fmla="val 11538"/>
            </a:avLst>
          </a:prstGeom>
          <a:solidFill>
            <a:srgbClr val="FFF8E1"/>
          </a:solidFill>
          <a:ln w="12700">
            <a:solidFill>
              <a:srgbClr val="FFF8E1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1" name="Text 39"/>
          <p:cNvSpPr/>
          <p:nvPr/>
        </p:nvSpPr>
        <p:spPr>
          <a:xfrm>
            <a:off x="4511040" y="4942088"/>
            <a:ext cx="20726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b="1" kern="0" spc="267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ROLE</a:t>
            </a:r>
            <a:endParaRPr lang="en-US" sz="1133" dirty="0"/>
          </a:p>
        </p:txBody>
      </p:sp>
      <p:sp>
        <p:nvSpPr>
          <p:cNvPr id="42" name="Shape 40"/>
          <p:cNvSpPr/>
          <p:nvPr/>
        </p:nvSpPr>
        <p:spPr>
          <a:xfrm>
            <a:off x="4450080" y="5295656"/>
            <a:ext cx="7315200" cy="0"/>
          </a:xfrm>
          <a:prstGeom prst="line">
            <a:avLst/>
          </a:prstGeom>
          <a:noFill/>
          <a:ln w="6350">
            <a:solidFill>
              <a:srgbClr val="F59E0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3" name="Text 41"/>
          <p:cNvSpPr/>
          <p:nvPr/>
        </p:nvSpPr>
        <p:spPr>
          <a:xfrm>
            <a:off x="4511040" y="5309616"/>
            <a:ext cx="7193280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Structured biomarker values vectorized into patient smart profile via OpenAI embeddings</a:t>
            </a:r>
            <a:endParaRPr lang="en-US" sz="1600" b="1" dirty="0"/>
          </a:p>
          <a:p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Enables historical trend tracking (e.g. rising HbA1c over 6 months)</a:t>
            </a:r>
            <a:endParaRPr lang="en-US" sz="1600" b="1" dirty="0"/>
          </a:p>
          <a:p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RAG surfaces precise clinical anomalies when doctor queries patient history</a:t>
            </a:r>
            <a:endParaRPr lang="en-US" sz="1600" b="1" dirty="0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1B7FDF3-E606-76F0-8A17-E72BFFE33758}"/>
              </a:ext>
            </a:extLst>
          </p:cNvPr>
          <p:cNvCxnSpPr>
            <a:stCxn id="6" idx="2"/>
            <a:endCxn id="10" idx="0"/>
          </p:cNvCxnSpPr>
          <p:nvPr/>
        </p:nvCxnSpPr>
        <p:spPr>
          <a:xfrm flipH="1">
            <a:off x="2092960" y="1731264"/>
            <a:ext cx="4064" cy="2214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64BBD33B-FF1C-BAC9-2A15-B9E3A94F73AA}"/>
              </a:ext>
            </a:extLst>
          </p:cNvPr>
          <p:cNvCxnSpPr>
            <a:stCxn id="10" idx="2"/>
            <a:endCxn id="14" idx="0"/>
          </p:cNvCxnSpPr>
          <p:nvPr/>
        </p:nvCxnSpPr>
        <p:spPr>
          <a:xfrm>
            <a:off x="2092960" y="2659805"/>
            <a:ext cx="0" cy="2177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1311F04D-A450-999F-43F4-54531A71CB38}"/>
              </a:ext>
            </a:extLst>
          </p:cNvPr>
          <p:cNvCxnSpPr>
            <a:stCxn id="14" idx="2"/>
            <a:endCxn id="18" idx="0"/>
          </p:cNvCxnSpPr>
          <p:nvPr/>
        </p:nvCxnSpPr>
        <p:spPr>
          <a:xfrm>
            <a:off x="2092960" y="3584730"/>
            <a:ext cx="0" cy="2177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4F535B95-8645-0960-DA68-73D33C900167}"/>
              </a:ext>
            </a:extLst>
          </p:cNvPr>
          <p:cNvCxnSpPr>
            <a:stCxn id="18" idx="2"/>
            <a:endCxn id="22" idx="0"/>
          </p:cNvCxnSpPr>
          <p:nvPr/>
        </p:nvCxnSpPr>
        <p:spPr>
          <a:xfrm>
            <a:off x="2092960" y="4509655"/>
            <a:ext cx="0" cy="2208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DE547BE2-778C-671C-CEBC-DF5571367782}"/>
              </a:ext>
            </a:extLst>
          </p:cNvPr>
          <p:cNvCxnSpPr>
            <a:stCxn id="22" idx="2"/>
            <a:endCxn id="26" idx="0"/>
          </p:cNvCxnSpPr>
          <p:nvPr/>
        </p:nvCxnSpPr>
        <p:spPr>
          <a:xfrm>
            <a:off x="2092960" y="5437631"/>
            <a:ext cx="0" cy="2208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7782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19456" cy="87782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341376" y="121920"/>
            <a:ext cx="20726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4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41376" y="438912"/>
            <a:ext cx="1158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COMPLEXITY PREDICTOR</a:t>
            </a:r>
            <a:endParaRPr lang="en-US" sz="2667" dirty="0"/>
          </a:p>
        </p:txBody>
      </p:sp>
      <p:sp>
        <p:nvSpPr>
          <p:cNvPr id="6" name="Shape 4"/>
          <p:cNvSpPr/>
          <p:nvPr/>
        </p:nvSpPr>
        <p:spPr>
          <a:xfrm>
            <a:off x="268224" y="1024128"/>
            <a:ext cx="3657600" cy="707136"/>
          </a:xfrm>
          <a:prstGeom prst="roundRect">
            <a:avLst>
              <a:gd name="adj" fmla="val 13793"/>
            </a:avLst>
          </a:prstGeom>
          <a:solidFill>
            <a:srgbClr val="E0F7FA"/>
          </a:solidFill>
          <a:ln w="12700">
            <a:solidFill>
              <a:srgbClr val="00BCD4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414528" y="1097281"/>
            <a:ext cx="3364992" cy="36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Uploaded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4528" y="1391839"/>
            <a:ext cx="3364992" cy="296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 predictions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68224" y="1952669"/>
            <a:ext cx="3657600" cy="707136"/>
          </a:xfrm>
          <a:prstGeom prst="roundRect">
            <a:avLst>
              <a:gd name="adj" fmla="val 13793"/>
            </a:avLst>
          </a:prstGeom>
          <a:solidFill>
            <a:srgbClr val="2D3748"/>
          </a:solidFill>
          <a:ln w="12700">
            <a:solidFill>
              <a:srgbClr val="3D4A5C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/>
          <p:nvPr/>
        </p:nvSpPr>
        <p:spPr>
          <a:xfrm>
            <a:off x="414528" y="2025822"/>
            <a:ext cx="3364992" cy="36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Report Trend Analysis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14528" y="2320380"/>
            <a:ext cx="3364992" cy="296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slope on historical metrics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68224" y="2881210"/>
            <a:ext cx="3657600" cy="707136"/>
          </a:xfrm>
          <a:prstGeom prst="roundRect">
            <a:avLst>
              <a:gd name="adj" fmla="val 13793"/>
            </a:avLst>
          </a:prstGeom>
          <a:solidFill>
            <a:srgbClr val="E0F7FA"/>
          </a:solidFill>
          <a:ln w="12700">
            <a:solidFill>
              <a:srgbClr val="00BCD4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5" name="Text 13"/>
          <p:cNvSpPr/>
          <p:nvPr/>
        </p:nvSpPr>
        <p:spPr>
          <a:xfrm>
            <a:off x="414528" y="2954363"/>
            <a:ext cx="3364992" cy="36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Search for Similar Trend Patients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14528" y="3248921"/>
            <a:ext cx="3364992" cy="296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cosine — top 5 cohort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68224" y="3809751"/>
            <a:ext cx="3657600" cy="707136"/>
          </a:xfrm>
          <a:prstGeom prst="roundRect">
            <a:avLst>
              <a:gd name="adj" fmla="val 13793"/>
            </a:avLst>
          </a:prstGeom>
          <a:solidFill>
            <a:srgbClr val="2D3748"/>
          </a:solidFill>
          <a:ln w="12700">
            <a:solidFill>
              <a:srgbClr val="3D4A5C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9" name="Text 17"/>
          <p:cNvSpPr/>
          <p:nvPr/>
        </p:nvSpPr>
        <p:spPr>
          <a:xfrm>
            <a:off x="414528" y="3882904"/>
            <a:ext cx="3364992" cy="36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of Similar Patients Analysis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14528" y="4177462"/>
            <a:ext cx="3364992" cy="296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complications from cohort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68224" y="4744057"/>
            <a:ext cx="3657600" cy="707136"/>
          </a:xfrm>
          <a:prstGeom prst="roundRect">
            <a:avLst>
              <a:gd name="adj" fmla="val 13793"/>
            </a:avLst>
          </a:prstGeom>
          <a:solidFill>
            <a:srgbClr val="E0F7FA"/>
          </a:solidFill>
          <a:ln w="12700">
            <a:solidFill>
              <a:srgbClr val="00BCD4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3" name="Text 21"/>
          <p:cNvSpPr/>
          <p:nvPr/>
        </p:nvSpPr>
        <p:spPr>
          <a:xfrm>
            <a:off x="341376" y="4817210"/>
            <a:ext cx="3438144" cy="36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Prediction for Future Complexity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14528" y="5111768"/>
            <a:ext cx="3364992" cy="296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+ cohort → JSON predictions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68224" y="5672598"/>
            <a:ext cx="3657600" cy="707136"/>
          </a:xfrm>
          <a:prstGeom prst="roundRect">
            <a:avLst>
              <a:gd name="adj" fmla="val 13793"/>
            </a:avLst>
          </a:prstGeom>
          <a:solidFill>
            <a:srgbClr val="2D3748"/>
          </a:solidFill>
          <a:ln w="12700">
            <a:solidFill>
              <a:srgbClr val="3D4A5C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7" name="Text 25"/>
          <p:cNvSpPr/>
          <p:nvPr/>
        </p:nvSpPr>
        <p:spPr>
          <a:xfrm>
            <a:off x="414528" y="5745751"/>
            <a:ext cx="3364992" cy="36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Vectorize &amp; Store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14528" y="6040309"/>
            <a:ext cx="3364992" cy="296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patient_predictions table (30-day)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328160" y="1024128"/>
            <a:ext cx="7559040" cy="1609344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19050">
            <a:solidFill>
              <a:srgbClr val="00BCD4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30" name="Shape 28"/>
          <p:cNvSpPr/>
          <p:nvPr/>
        </p:nvSpPr>
        <p:spPr>
          <a:xfrm>
            <a:off x="4474464" y="1109472"/>
            <a:ext cx="2194560" cy="316992"/>
          </a:xfrm>
          <a:prstGeom prst="roundRect">
            <a:avLst>
              <a:gd name="adj" fmla="val 11538"/>
            </a:avLst>
          </a:prstGeom>
          <a:solidFill>
            <a:srgbClr val="E0F7FA"/>
          </a:solidFill>
          <a:ln w="12700">
            <a:solidFill>
              <a:srgbClr val="E0F7F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1" name="Text 29"/>
          <p:cNvSpPr/>
          <p:nvPr/>
        </p:nvSpPr>
        <p:spPr>
          <a:xfrm>
            <a:off x="4511040" y="1133856"/>
            <a:ext cx="20726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b="1" kern="0" spc="267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133" dirty="0"/>
          </a:p>
        </p:txBody>
      </p:sp>
      <p:sp>
        <p:nvSpPr>
          <p:cNvPr id="32" name="Shape 30"/>
          <p:cNvSpPr/>
          <p:nvPr/>
        </p:nvSpPr>
        <p:spPr>
          <a:xfrm>
            <a:off x="4450080" y="1487424"/>
            <a:ext cx="7315200" cy="0"/>
          </a:xfrm>
          <a:prstGeom prst="line">
            <a:avLst/>
          </a:prstGeom>
          <a:noFill/>
          <a:ln w="6350">
            <a:solidFill>
              <a:srgbClr val="00BC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3" name="Text 31"/>
          <p:cNvSpPr/>
          <p:nvPr/>
        </p:nvSpPr>
        <p:spPr>
          <a:xfrm>
            <a:off x="4511040" y="1548384"/>
            <a:ext cx="719328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report_metric table: historical biomarker values with timestamps (per-patient)</a:t>
            </a:r>
            <a:endParaRPr lang="en-US" sz="1600" b="1" dirty="0"/>
          </a:p>
          <a:p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patient_report_vector table: pgvector embeddings for cohort similarity search</a:t>
            </a:r>
            <a:endParaRPr lang="en-US" sz="1600" b="1" dirty="0"/>
          </a:p>
          <a:p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known_condition + prescription_item: active conditions and medications for context</a:t>
            </a:r>
            <a:endParaRPr lang="en-US" sz="1600" b="1" dirty="0"/>
          </a:p>
        </p:txBody>
      </p:sp>
      <p:sp>
        <p:nvSpPr>
          <p:cNvPr id="34" name="Shape 32"/>
          <p:cNvSpPr/>
          <p:nvPr/>
        </p:nvSpPr>
        <p:spPr>
          <a:xfrm>
            <a:off x="4328160" y="2737104"/>
            <a:ext cx="7559040" cy="1853184"/>
          </a:xfrm>
          <a:prstGeom prst="roundRect">
            <a:avLst>
              <a:gd name="adj" fmla="val 3947"/>
            </a:avLst>
          </a:prstGeom>
          <a:solidFill>
            <a:srgbClr val="FAFAFA"/>
          </a:solidFill>
          <a:ln w="19050">
            <a:solidFill>
              <a:srgbClr val="9C27B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35" name="Shape 33"/>
          <p:cNvSpPr/>
          <p:nvPr/>
        </p:nvSpPr>
        <p:spPr>
          <a:xfrm>
            <a:off x="4474464" y="2822448"/>
            <a:ext cx="2194560" cy="316992"/>
          </a:xfrm>
          <a:prstGeom prst="roundRect">
            <a:avLst>
              <a:gd name="adj" fmla="val 11538"/>
            </a:avLst>
          </a:prstGeom>
          <a:solidFill>
            <a:srgbClr val="F3E5F5"/>
          </a:solidFill>
          <a:ln w="12700">
            <a:solidFill>
              <a:srgbClr val="F3E5F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6" name="Text 34"/>
          <p:cNvSpPr/>
          <p:nvPr/>
        </p:nvSpPr>
        <p:spPr>
          <a:xfrm>
            <a:off x="4511040" y="2846832"/>
            <a:ext cx="20726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b="1" kern="0" spc="267" dirty="0">
                <a:solidFill>
                  <a:srgbClr val="9C2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ROLE</a:t>
            </a:r>
            <a:endParaRPr lang="en-US" sz="1133" dirty="0"/>
          </a:p>
        </p:txBody>
      </p:sp>
      <p:sp>
        <p:nvSpPr>
          <p:cNvPr id="37" name="Shape 35"/>
          <p:cNvSpPr/>
          <p:nvPr/>
        </p:nvSpPr>
        <p:spPr>
          <a:xfrm>
            <a:off x="4450080" y="3200400"/>
            <a:ext cx="7315200" cy="0"/>
          </a:xfrm>
          <a:prstGeom prst="line">
            <a:avLst/>
          </a:prstGeom>
          <a:noFill/>
          <a:ln w="6350">
            <a:solidFill>
              <a:srgbClr val="9C27B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8" name="Text 36"/>
          <p:cNvSpPr/>
          <p:nvPr/>
        </p:nvSpPr>
        <p:spPr>
          <a:xfrm>
            <a:off x="4511040" y="3261360"/>
            <a:ext cx="7193280" cy="1182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OpenAI GPT-4o (PredictionAgent): receives trend summary, cohort complication patterns, patient context</a:t>
            </a:r>
            <a:endParaRPr lang="en-US" sz="1600" b="1" dirty="0"/>
          </a:p>
          <a:p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Outputs: predicted_complication, confidence (0–1), severity, time_window, preventive_action</a:t>
            </a:r>
            <a:endParaRPr lang="en-US" sz="1600" b="1" dirty="0"/>
          </a:p>
          <a:p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Up to 6 ranked predictions · Temperature 0.3 · Heuristic fallback if LLM fails</a:t>
            </a:r>
            <a:endParaRPr lang="en-US" sz="1600" b="1" dirty="0"/>
          </a:p>
        </p:txBody>
      </p:sp>
      <p:sp>
        <p:nvSpPr>
          <p:cNvPr id="39" name="Shape 37"/>
          <p:cNvSpPr/>
          <p:nvPr/>
        </p:nvSpPr>
        <p:spPr>
          <a:xfrm>
            <a:off x="4328160" y="4693920"/>
            <a:ext cx="7559040" cy="1938528"/>
          </a:xfrm>
          <a:prstGeom prst="roundRect">
            <a:avLst>
              <a:gd name="adj" fmla="val 3488"/>
            </a:avLst>
          </a:prstGeom>
          <a:solidFill>
            <a:srgbClr val="FAFAFA"/>
          </a:solidFill>
          <a:ln w="19050">
            <a:solidFill>
              <a:srgbClr val="F59E0B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40" name="Shape 38"/>
          <p:cNvSpPr/>
          <p:nvPr/>
        </p:nvSpPr>
        <p:spPr>
          <a:xfrm>
            <a:off x="4474464" y="4854448"/>
            <a:ext cx="2194560" cy="316992"/>
          </a:xfrm>
          <a:prstGeom prst="roundRect">
            <a:avLst>
              <a:gd name="adj" fmla="val 11538"/>
            </a:avLst>
          </a:prstGeom>
          <a:solidFill>
            <a:srgbClr val="FFF8E1"/>
          </a:solidFill>
          <a:ln w="12700">
            <a:solidFill>
              <a:srgbClr val="FFF8E1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1" name="Text 39"/>
          <p:cNvSpPr/>
          <p:nvPr/>
        </p:nvSpPr>
        <p:spPr>
          <a:xfrm>
            <a:off x="4511040" y="4878832"/>
            <a:ext cx="20726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b="1" kern="0" spc="267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ROLE</a:t>
            </a:r>
            <a:endParaRPr lang="en-US" sz="1133" dirty="0"/>
          </a:p>
        </p:txBody>
      </p:sp>
      <p:sp>
        <p:nvSpPr>
          <p:cNvPr id="42" name="Shape 40"/>
          <p:cNvSpPr/>
          <p:nvPr/>
        </p:nvSpPr>
        <p:spPr>
          <a:xfrm>
            <a:off x="4450080" y="5232400"/>
            <a:ext cx="7315200" cy="0"/>
          </a:xfrm>
          <a:prstGeom prst="line">
            <a:avLst/>
          </a:prstGeom>
          <a:noFill/>
          <a:ln w="6350">
            <a:solidFill>
              <a:srgbClr val="F59E0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3" name="Text 41"/>
          <p:cNvSpPr/>
          <p:nvPr/>
        </p:nvSpPr>
        <p:spPr>
          <a:xfrm>
            <a:off x="4511040" y="5252720"/>
            <a:ext cx="7193280" cy="1233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pgvector cosine similarity finds top-5 similar patients based on embedded report profiles</a:t>
            </a:r>
            <a:endParaRPr lang="en-US" sz="1600" b="1" dirty="0"/>
          </a:p>
          <a:p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Cohort outcomes retrieved: what complications those patients actually developed</a:t>
            </a:r>
            <a:endParaRPr lang="en-US" sz="1600" b="1" dirty="0"/>
          </a:p>
          <a:p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Trend patterns from similar cohort ground the LLM's predictions, preventing hallucination</a:t>
            </a:r>
            <a:endParaRPr lang="en-US" sz="1600" b="1" dirty="0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893D4EB-6394-3D6B-E10E-196FEB5CF6E8}"/>
              </a:ext>
            </a:extLst>
          </p:cNvPr>
          <p:cNvCxnSpPr>
            <a:stCxn id="6" idx="2"/>
            <a:endCxn id="10" idx="0"/>
          </p:cNvCxnSpPr>
          <p:nvPr/>
        </p:nvCxnSpPr>
        <p:spPr>
          <a:xfrm>
            <a:off x="2097024" y="1731264"/>
            <a:ext cx="0" cy="2214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1EE1058-592B-E97E-C5E0-ECB3B9C61CD3}"/>
              </a:ext>
            </a:extLst>
          </p:cNvPr>
          <p:cNvCxnSpPr>
            <a:stCxn id="10" idx="2"/>
            <a:endCxn id="14" idx="0"/>
          </p:cNvCxnSpPr>
          <p:nvPr/>
        </p:nvCxnSpPr>
        <p:spPr>
          <a:xfrm>
            <a:off x="2097024" y="2659805"/>
            <a:ext cx="0" cy="2214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66F5DF1F-1131-842B-5992-1F9979FFB523}"/>
              </a:ext>
            </a:extLst>
          </p:cNvPr>
          <p:cNvCxnSpPr>
            <a:stCxn id="14" idx="2"/>
            <a:endCxn id="18" idx="0"/>
          </p:cNvCxnSpPr>
          <p:nvPr/>
        </p:nvCxnSpPr>
        <p:spPr>
          <a:xfrm>
            <a:off x="2097024" y="3588346"/>
            <a:ext cx="0" cy="2214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258C872F-EC43-8C9F-4AB0-D96405C9B9EF}"/>
              </a:ext>
            </a:extLst>
          </p:cNvPr>
          <p:cNvCxnSpPr>
            <a:stCxn id="18" idx="2"/>
            <a:endCxn id="22" idx="0"/>
          </p:cNvCxnSpPr>
          <p:nvPr/>
        </p:nvCxnSpPr>
        <p:spPr>
          <a:xfrm>
            <a:off x="2097024" y="4516887"/>
            <a:ext cx="0" cy="2271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72F05849-B0E4-3527-8669-354735B2D618}"/>
              </a:ext>
            </a:extLst>
          </p:cNvPr>
          <p:cNvCxnSpPr>
            <a:stCxn id="22" idx="2"/>
            <a:endCxn id="26" idx="0"/>
          </p:cNvCxnSpPr>
          <p:nvPr/>
        </p:nvCxnSpPr>
        <p:spPr>
          <a:xfrm>
            <a:off x="2097024" y="5451193"/>
            <a:ext cx="0" cy="2214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7782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19456" cy="877824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341376" y="121920"/>
            <a:ext cx="20726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400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41376" y="438912"/>
            <a:ext cx="1158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DRUG INTERACTION CHECKER</a:t>
            </a:r>
            <a:endParaRPr lang="en-US" sz="2667" dirty="0"/>
          </a:p>
        </p:txBody>
      </p:sp>
      <p:sp>
        <p:nvSpPr>
          <p:cNvPr id="6" name="Shape 4"/>
          <p:cNvSpPr/>
          <p:nvPr/>
        </p:nvSpPr>
        <p:spPr>
          <a:xfrm>
            <a:off x="268224" y="1024128"/>
            <a:ext cx="3657600" cy="707136"/>
          </a:xfrm>
          <a:prstGeom prst="roundRect">
            <a:avLst>
              <a:gd name="adj" fmla="val 13793"/>
            </a:avLst>
          </a:prstGeom>
          <a:solidFill>
            <a:srgbClr val="FFEBEE"/>
          </a:solidFill>
          <a:ln w="12700">
            <a:solidFill>
              <a:srgbClr val="E5393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414528" y="1097281"/>
            <a:ext cx="3364992" cy="36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List Input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4528" y="1391839"/>
            <a:ext cx="3364992" cy="296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or auto-pulled from active Rx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68224" y="1986198"/>
            <a:ext cx="3657600" cy="707136"/>
          </a:xfrm>
          <a:prstGeom prst="roundRect">
            <a:avLst>
              <a:gd name="adj" fmla="val 13793"/>
            </a:avLst>
          </a:prstGeom>
          <a:solidFill>
            <a:srgbClr val="2D3748"/>
          </a:solidFill>
          <a:ln w="12700">
            <a:solidFill>
              <a:srgbClr val="3D4A5C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/>
          <p:nvPr/>
        </p:nvSpPr>
        <p:spPr>
          <a:xfrm>
            <a:off x="414528" y="2059351"/>
            <a:ext cx="3364992" cy="36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DB Check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14528" y="2353909"/>
            <a:ext cx="3364992" cy="296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Pairwise SQL cache (always first)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68224" y="2945546"/>
            <a:ext cx="3657600" cy="707136"/>
          </a:xfrm>
          <a:prstGeom prst="roundRect">
            <a:avLst>
              <a:gd name="adj" fmla="val 13793"/>
            </a:avLst>
          </a:prstGeom>
          <a:solidFill>
            <a:srgbClr val="FFEBEE"/>
          </a:solidFill>
          <a:ln w="12700">
            <a:solidFill>
              <a:srgbClr val="E5393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5" name="Text 13"/>
          <p:cNvSpPr/>
          <p:nvPr/>
        </p:nvSpPr>
        <p:spPr>
          <a:xfrm>
            <a:off x="414528" y="3018699"/>
            <a:ext cx="3364992" cy="36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RxNorm</a:t>
            </a:r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Lookup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14528" y="3313257"/>
            <a:ext cx="3364992" cy="296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NIH RxNorm — RxCUI + DDI fetch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68224" y="3904812"/>
            <a:ext cx="3657600" cy="707136"/>
          </a:xfrm>
          <a:prstGeom prst="roundRect">
            <a:avLst>
              <a:gd name="adj" fmla="val 13793"/>
            </a:avLst>
          </a:prstGeom>
          <a:solidFill>
            <a:srgbClr val="2D3748"/>
          </a:solidFill>
          <a:ln w="12700">
            <a:solidFill>
              <a:srgbClr val="3D4A5C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9" name="Text 17"/>
          <p:cNvSpPr/>
          <p:nvPr/>
        </p:nvSpPr>
        <p:spPr>
          <a:xfrm>
            <a:off x="414528" y="3977965"/>
            <a:ext cx="3364992" cy="36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MedScape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Lookup 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14528" y="4272523"/>
            <a:ext cx="3364992" cy="296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Medscape DB fallback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68224" y="4868753"/>
            <a:ext cx="3657600" cy="707136"/>
          </a:xfrm>
          <a:prstGeom prst="roundRect">
            <a:avLst>
              <a:gd name="adj" fmla="val 13793"/>
            </a:avLst>
          </a:prstGeom>
          <a:solidFill>
            <a:srgbClr val="FFEBEE"/>
          </a:solidFill>
          <a:ln w="12700">
            <a:solidFill>
              <a:srgbClr val="E5393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3" name="Text 21"/>
          <p:cNvSpPr/>
          <p:nvPr/>
        </p:nvSpPr>
        <p:spPr>
          <a:xfrm>
            <a:off x="414528" y="4941906"/>
            <a:ext cx="3364992" cy="36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Search (Tavily)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14528" y="5236464"/>
            <a:ext cx="3364992" cy="296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resort: drugs.com · pubmed · ncbi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68224" y="5828019"/>
            <a:ext cx="3657600" cy="707136"/>
          </a:xfrm>
          <a:prstGeom prst="roundRect">
            <a:avLst>
              <a:gd name="adj" fmla="val 13793"/>
            </a:avLst>
          </a:prstGeom>
          <a:solidFill>
            <a:srgbClr val="2D3748"/>
          </a:solidFill>
          <a:ln w="12700">
            <a:solidFill>
              <a:srgbClr val="3D4A5C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7" name="Text 25"/>
          <p:cNvSpPr/>
          <p:nvPr/>
        </p:nvSpPr>
        <p:spPr>
          <a:xfrm>
            <a:off x="414528" y="5901172"/>
            <a:ext cx="3364992" cy="36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Severity-Ranked Output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14528" y="6195730"/>
            <a:ext cx="3364992" cy="296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/ low / moderate / high / critical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328160" y="1024128"/>
            <a:ext cx="7559040" cy="1794256"/>
          </a:xfrm>
          <a:prstGeom prst="roundRect">
            <a:avLst>
              <a:gd name="adj" fmla="val 5455"/>
            </a:avLst>
          </a:prstGeom>
          <a:solidFill>
            <a:srgbClr val="FAFAFA"/>
          </a:solidFill>
          <a:ln w="19050">
            <a:solidFill>
              <a:srgbClr val="00BCD4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30" name="Shape 28"/>
          <p:cNvSpPr/>
          <p:nvPr/>
        </p:nvSpPr>
        <p:spPr>
          <a:xfrm>
            <a:off x="4474464" y="1109472"/>
            <a:ext cx="2194560" cy="316992"/>
          </a:xfrm>
          <a:prstGeom prst="roundRect">
            <a:avLst>
              <a:gd name="adj" fmla="val 11538"/>
            </a:avLst>
          </a:prstGeom>
          <a:solidFill>
            <a:srgbClr val="E0F7FA"/>
          </a:solidFill>
          <a:ln w="12700">
            <a:solidFill>
              <a:srgbClr val="E0F7F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1" name="Text 29"/>
          <p:cNvSpPr/>
          <p:nvPr/>
        </p:nvSpPr>
        <p:spPr>
          <a:xfrm>
            <a:off x="4511040" y="1133856"/>
            <a:ext cx="20726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b="1" kern="0" spc="267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133" b="1" dirty="0"/>
          </a:p>
        </p:txBody>
      </p:sp>
      <p:sp>
        <p:nvSpPr>
          <p:cNvPr id="32" name="Shape 30"/>
          <p:cNvSpPr/>
          <p:nvPr/>
        </p:nvSpPr>
        <p:spPr>
          <a:xfrm>
            <a:off x="4450080" y="1487424"/>
            <a:ext cx="7315200" cy="0"/>
          </a:xfrm>
          <a:prstGeom prst="line">
            <a:avLst/>
          </a:prstGeom>
          <a:noFill/>
          <a:ln w="6350">
            <a:solidFill>
              <a:srgbClr val="00BC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3" name="Text 31"/>
          <p:cNvSpPr/>
          <p:nvPr/>
        </p:nvSpPr>
        <p:spPr>
          <a:xfrm>
            <a:off x="4511040" y="1548384"/>
            <a:ext cx="71932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drug_interactions SQL table: local pre-computed interaction cache (checked first, fastest)</a:t>
            </a:r>
            <a:endParaRPr lang="en-US" sz="1600" b="1" dirty="0"/>
          </a:p>
          <a:p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NIH RxNorm API (free): RxCUI resolution + batch drug-drug interaction data</a:t>
            </a:r>
            <a:endParaRPr lang="en-US" sz="1600" b="1" dirty="0"/>
          </a:p>
          <a:p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Medscape Reference DB · Tavily web search (last resort): drugs.com, pubmed, ncbi</a:t>
            </a:r>
            <a:endParaRPr lang="en-US" sz="1600" b="1" dirty="0"/>
          </a:p>
        </p:txBody>
      </p:sp>
      <p:sp>
        <p:nvSpPr>
          <p:cNvPr id="34" name="Shape 32"/>
          <p:cNvSpPr/>
          <p:nvPr/>
        </p:nvSpPr>
        <p:spPr>
          <a:xfrm>
            <a:off x="4328160" y="2909822"/>
            <a:ext cx="7559040" cy="1568705"/>
          </a:xfrm>
          <a:prstGeom prst="roundRect">
            <a:avLst>
              <a:gd name="adj" fmla="val 3947"/>
            </a:avLst>
          </a:prstGeom>
          <a:solidFill>
            <a:srgbClr val="FAFAFA"/>
          </a:solidFill>
          <a:ln w="19050">
            <a:solidFill>
              <a:srgbClr val="9C27B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35" name="Shape 33"/>
          <p:cNvSpPr/>
          <p:nvPr/>
        </p:nvSpPr>
        <p:spPr>
          <a:xfrm>
            <a:off x="4474464" y="2964688"/>
            <a:ext cx="2194560" cy="316992"/>
          </a:xfrm>
          <a:prstGeom prst="roundRect">
            <a:avLst>
              <a:gd name="adj" fmla="val 11538"/>
            </a:avLst>
          </a:prstGeom>
          <a:solidFill>
            <a:srgbClr val="F3E5F5"/>
          </a:solidFill>
          <a:ln w="12700">
            <a:solidFill>
              <a:srgbClr val="F3E5F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6" name="Text 34"/>
          <p:cNvSpPr/>
          <p:nvPr/>
        </p:nvSpPr>
        <p:spPr>
          <a:xfrm>
            <a:off x="4511040" y="2989072"/>
            <a:ext cx="20726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b="1" kern="0" spc="267" dirty="0">
                <a:solidFill>
                  <a:srgbClr val="9C2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ROLE</a:t>
            </a:r>
            <a:endParaRPr lang="en-US" sz="1133" dirty="0"/>
          </a:p>
        </p:txBody>
      </p:sp>
      <p:sp>
        <p:nvSpPr>
          <p:cNvPr id="37" name="Shape 35"/>
          <p:cNvSpPr/>
          <p:nvPr/>
        </p:nvSpPr>
        <p:spPr>
          <a:xfrm>
            <a:off x="4450080" y="3342640"/>
            <a:ext cx="7315200" cy="0"/>
          </a:xfrm>
          <a:prstGeom prst="line">
            <a:avLst/>
          </a:prstGeom>
          <a:noFill/>
          <a:ln w="6350">
            <a:solidFill>
              <a:srgbClr val="9C27B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8" name="Text 36"/>
          <p:cNvSpPr/>
          <p:nvPr/>
        </p:nvSpPr>
        <p:spPr>
          <a:xfrm>
            <a:off x="4511040" y="3352800"/>
            <a:ext cx="7193280" cy="97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OpenAI GPT-4o-mini (DrugInteractionAgent): orchestrates strict 4-step tool cascade</a:t>
            </a:r>
            <a:endParaRPr lang="en-US" sz="1600" b="1" dirty="0"/>
          </a:p>
          <a:p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Enforces tool order: check_local_db first → RxNorm → Medscape → web_search</a:t>
            </a:r>
            <a:endParaRPr lang="en-US" sz="1600" b="1" dirty="0"/>
          </a:p>
          <a:p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Temperature 0.1 for deterministic output · source field per pair for full auditability</a:t>
            </a:r>
            <a:endParaRPr lang="en-US" sz="1600" b="1" dirty="0"/>
          </a:p>
        </p:txBody>
      </p:sp>
      <p:sp>
        <p:nvSpPr>
          <p:cNvPr id="39" name="Shape 37"/>
          <p:cNvSpPr/>
          <p:nvPr/>
        </p:nvSpPr>
        <p:spPr>
          <a:xfrm>
            <a:off x="4328160" y="4663440"/>
            <a:ext cx="7559040" cy="2131568"/>
          </a:xfrm>
          <a:prstGeom prst="roundRect">
            <a:avLst>
              <a:gd name="adj" fmla="val 3297"/>
            </a:avLst>
          </a:prstGeom>
          <a:solidFill>
            <a:srgbClr val="FAFAFA"/>
          </a:solidFill>
          <a:ln w="19050">
            <a:solidFill>
              <a:srgbClr val="F59E0B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40" name="Shape 38"/>
          <p:cNvSpPr/>
          <p:nvPr/>
        </p:nvSpPr>
        <p:spPr>
          <a:xfrm>
            <a:off x="4474464" y="4793488"/>
            <a:ext cx="2194560" cy="316992"/>
          </a:xfrm>
          <a:prstGeom prst="roundRect">
            <a:avLst>
              <a:gd name="adj" fmla="val 11538"/>
            </a:avLst>
          </a:prstGeom>
          <a:solidFill>
            <a:srgbClr val="FFF8E1"/>
          </a:solidFill>
          <a:ln w="12700">
            <a:solidFill>
              <a:srgbClr val="FFF8E1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1" name="Text 39"/>
          <p:cNvSpPr/>
          <p:nvPr/>
        </p:nvSpPr>
        <p:spPr>
          <a:xfrm>
            <a:off x="4511040" y="4817872"/>
            <a:ext cx="20726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b="1" kern="0" spc="267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/ FALLBACK ROLE</a:t>
            </a:r>
            <a:endParaRPr lang="en-US" sz="1133" dirty="0"/>
          </a:p>
        </p:txBody>
      </p:sp>
      <p:sp>
        <p:nvSpPr>
          <p:cNvPr id="42" name="Shape 40"/>
          <p:cNvSpPr/>
          <p:nvPr/>
        </p:nvSpPr>
        <p:spPr>
          <a:xfrm>
            <a:off x="4450080" y="5171440"/>
            <a:ext cx="7315200" cy="0"/>
          </a:xfrm>
          <a:prstGeom prst="line">
            <a:avLst/>
          </a:prstGeom>
          <a:noFill/>
          <a:ln w="6350">
            <a:solidFill>
              <a:srgbClr val="F59E0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3" name="Text 41"/>
          <p:cNvSpPr/>
          <p:nvPr/>
        </p:nvSpPr>
        <p:spPr>
          <a:xfrm>
            <a:off x="4511040" y="5177456"/>
            <a:ext cx="7193280" cy="147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Local SQL cache: deterministic first-pass — instant for known pairs, zero API latency</a:t>
            </a:r>
            <a:endParaRPr lang="en-US" sz="1600" b="1" dirty="0"/>
          </a:p>
          <a:p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RxNorm is the authoritative free clinical source; Medscape adds coverage for rarer drugs</a:t>
            </a:r>
            <a:endParaRPr lang="en-US" sz="1600" b="1" dirty="0"/>
          </a:p>
          <a:p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Tavily web search fires only for truly unrecognized drugs after all structured sources exhausted</a:t>
            </a:r>
            <a:endParaRPr lang="en-US" sz="1600" b="1" dirty="0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54B24543-A91E-F1BE-A73D-5808C937CD2C}"/>
              </a:ext>
            </a:extLst>
          </p:cNvPr>
          <p:cNvCxnSpPr>
            <a:stCxn id="6" idx="2"/>
            <a:endCxn id="10" idx="0"/>
          </p:cNvCxnSpPr>
          <p:nvPr/>
        </p:nvCxnSpPr>
        <p:spPr>
          <a:xfrm>
            <a:off x="2097024" y="1731264"/>
            <a:ext cx="0" cy="2549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5FFF6BC7-081F-363A-352A-0422EC10349A}"/>
              </a:ext>
            </a:extLst>
          </p:cNvPr>
          <p:cNvCxnSpPr>
            <a:stCxn id="10" idx="2"/>
            <a:endCxn id="14" idx="0"/>
          </p:cNvCxnSpPr>
          <p:nvPr/>
        </p:nvCxnSpPr>
        <p:spPr>
          <a:xfrm>
            <a:off x="2097024" y="2693334"/>
            <a:ext cx="0" cy="2522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50360164-478C-EA43-B3F9-AC84B2950171}"/>
              </a:ext>
            </a:extLst>
          </p:cNvPr>
          <p:cNvCxnSpPr>
            <a:stCxn id="14" idx="2"/>
            <a:endCxn id="18" idx="0"/>
          </p:cNvCxnSpPr>
          <p:nvPr/>
        </p:nvCxnSpPr>
        <p:spPr>
          <a:xfrm>
            <a:off x="2097024" y="3652682"/>
            <a:ext cx="0" cy="2521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D60BE0A1-4F0E-77E7-BA5A-39890494A684}"/>
              </a:ext>
            </a:extLst>
          </p:cNvPr>
          <p:cNvCxnSpPr>
            <a:stCxn id="18" idx="2"/>
            <a:endCxn id="22" idx="0"/>
          </p:cNvCxnSpPr>
          <p:nvPr/>
        </p:nvCxnSpPr>
        <p:spPr>
          <a:xfrm>
            <a:off x="2097024" y="4611948"/>
            <a:ext cx="0" cy="2568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98A6A47B-B0DD-A208-8272-FD6C1C1B15A7}"/>
              </a:ext>
            </a:extLst>
          </p:cNvPr>
          <p:cNvCxnSpPr>
            <a:stCxn id="22" idx="2"/>
            <a:endCxn id="26" idx="0"/>
          </p:cNvCxnSpPr>
          <p:nvPr/>
        </p:nvCxnSpPr>
        <p:spPr>
          <a:xfrm>
            <a:off x="2097024" y="5575889"/>
            <a:ext cx="0" cy="2521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7782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19456" cy="8778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341376" y="121920"/>
            <a:ext cx="20726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4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41376" y="438912"/>
            <a:ext cx="1158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ADVISOR</a:t>
            </a:r>
            <a:endParaRPr lang="en-US" sz="2667" dirty="0"/>
          </a:p>
        </p:txBody>
      </p:sp>
      <p:sp>
        <p:nvSpPr>
          <p:cNvPr id="6" name="Shape 4"/>
          <p:cNvSpPr/>
          <p:nvPr/>
        </p:nvSpPr>
        <p:spPr>
          <a:xfrm>
            <a:off x="268224" y="1024128"/>
            <a:ext cx="3657600" cy="707136"/>
          </a:xfrm>
          <a:prstGeom prst="roundRect">
            <a:avLst>
              <a:gd name="adj" fmla="val 13793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414528" y="1097281"/>
            <a:ext cx="3364992" cy="36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Describes Symptoms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4528" y="1391839"/>
            <a:ext cx="3364992" cy="296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 or English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68224" y="1961935"/>
            <a:ext cx="3657600" cy="707136"/>
          </a:xfrm>
          <a:prstGeom prst="roundRect">
            <a:avLst>
              <a:gd name="adj" fmla="val 13793"/>
            </a:avLst>
          </a:prstGeom>
          <a:solidFill>
            <a:srgbClr val="2D3748"/>
          </a:solidFill>
          <a:ln w="12700">
            <a:solidFill>
              <a:srgbClr val="3D4A5C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/>
          <p:nvPr/>
        </p:nvSpPr>
        <p:spPr>
          <a:xfrm>
            <a:off x="414528" y="2035088"/>
            <a:ext cx="3364992" cy="36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 Agent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14528" y="2329646"/>
            <a:ext cx="3364992" cy="296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Tool-use loop — max 8 turns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68224" y="2895600"/>
            <a:ext cx="3657600" cy="707136"/>
          </a:xfrm>
          <a:prstGeom prst="roundRect">
            <a:avLst>
              <a:gd name="adj" fmla="val 13793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5" name="Text 13"/>
          <p:cNvSpPr/>
          <p:nvPr/>
        </p:nvSpPr>
        <p:spPr>
          <a:xfrm>
            <a:off x="414528" y="2968753"/>
            <a:ext cx="3364992" cy="36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1: Patient Profile Lookup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14528" y="3263311"/>
            <a:ext cx="3364992" cy="296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conditions, allergies, meds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68224" y="3829265"/>
            <a:ext cx="3657600" cy="707136"/>
          </a:xfrm>
          <a:prstGeom prst="roundRect">
            <a:avLst>
              <a:gd name="adj" fmla="val 13793"/>
            </a:avLst>
          </a:prstGeom>
          <a:solidFill>
            <a:srgbClr val="2D3748"/>
          </a:solidFill>
          <a:ln w="12700">
            <a:solidFill>
              <a:srgbClr val="3D4A5C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9" name="Text 17"/>
          <p:cNvSpPr/>
          <p:nvPr/>
        </p:nvSpPr>
        <p:spPr>
          <a:xfrm>
            <a:off x="414528" y="3902418"/>
            <a:ext cx="3364992" cy="36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2: RAG Search 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14528" y="4196976"/>
            <a:ext cx="3364992" cy="296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query → cosine on corpus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68224" y="4759025"/>
            <a:ext cx="3657600" cy="707136"/>
          </a:xfrm>
          <a:prstGeom prst="roundRect">
            <a:avLst>
              <a:gd name="adj" fmla="val 13793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3" name="Text 21"/>
          <p:cNvSpPr/>
          <p:nvPr/>
        </p:nvSpPr>
        <p:spPr>
          <a:xfrm>
            <a:off x="414528" y="4832178"/>
            <a:ext cx="3364992" cy="36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Assessment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14528" y="5126736"/>
            <a:ext cx="3364992" cy="296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questions OR clinical reply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68224" y="5688785"/>
            <a:ext cx="3657600" cy="707136"/>
          </a:xfrm>
          <a:prstGeom prst="roundRect">
            <a:avLst>
              <a:gd name="adj" fmla="val 13793"/>
            </a:avLst>
          </a:prstGeom>
          <a:solidFill>
            <a:srgbClr val="2D3748"/>
          </a:solidFill>
          <a:ln w="12700">
            <a:solidFill>
              <a:srgbClr val="3D4A5C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7" name="Text 25"/>
          <p:cNvSpPr/>
          <p:nvPr/>
        </p:nvSpPr>
        <p:spPr>
          <a:xfrm>
            <a:off x="414528" y="5761938"/>
            <a:ext cx="3364992" cy="36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Detection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14528" y="6056496"/>
            <a:ext cx="3364992" cy="296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EMERGENCY_CARD → UrgencyBanner alert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328160" y="1024128"/>
            <a:ext cx="7559040" cy="1341120"/>
          </a:xfrm>
          <a:prstGeom prst="roundRect">
            <a:avLst>
              <a:gd name="adj" fmla="val 5455"/>
            </a:avLst>
          </a:prstGeom>
          <a:solidFill>
            <a:srgbClr val="FAFAFA"/>
          </a:solidFill>
          <a:ln w="19050">
            <a:solidFill>
              <a:srgbClr val="7C3AED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30" name="Shape 28"/>
          <p:cNvSpPr/>
          <p:nvPr/>
        </p:nvSpPr>
        <p:spPr>
          <a:xfrm>
            <a:off x="4474464" y="1109472"/>
            <a:ext cx="2194560" cy="316992"/>
          </a:xfrm>
          <a:prstGeom prst="roundRect">
            <a:avLst>
              <a:gd name="adj" fmla="val 11538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1" name="Text 29"/>
          <p:cNvSpPr/>
          <p:nvPr/>
        </p:nvSpPr>
        <p:spPr>
          <a:xfrm>
            <a:off x="4511040" y="1133856"/>
            <a:ext cx="20726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b="1" kern="0" spc="267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133" dirty="0"/>
          </a:p>
        </p:txBody>
      </p:sp>
      <p:sp>
        <p:nvSpPr>
          <p:cNvPr id="32" name="Shape 30"/>
          <p:cNvSpPr/>
          <p:nvPr/>
        </p:nvSpPr>
        <p:spPr>
          <a:xfrm>
            <a:off x="4450080" y="1487424"/>
            <a:ext cx="7315200" cy="0"/>
          </a:xfrm>
          <a:prstGeom prst="line">
            <a:avLst/>
          </a:prstGeom>
          <a:noFill/>
          <a:ln w="6350">
            <a:solidFill>
              <a:srgbClr val="7C3AED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3" name="Text 31"/>
          <p:cNvSpPr/>
          <p:nvPr/>
        </p:nvSpPr>
        <p:spPr>
          <a:xfrm>
            <a:off x="4511040" y="1548384"/>
            <a:ext cx="71932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Harrison's Principles of Internal Medicine — chunked in pgvector</a:t>
            </a:r>
            <a:endParaRPr lang="en-US" sz="1600" b="1" dirty="0"/>
          </a:p>
          <a:p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Davidson's Medicine + MedlinePlus — cosine-searchable corpus</a:t>
            </a:r>
            <a:endParaRPr lang="en-US" sz="1600" b="1" dirty="0"/>
          </a:p>
          <a:p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Patient health profile: vitals, conditions, allergies, active medications (PostgreSQL)</a:t>
            </a:r>
            <a:endParaRPr lang="en-US" sz="1600" b="1" dirty="0"/>
          </a:p>
        </p:txBody>
      </p:sp>
      <p:sp>
        <p:nvSpPr>
          <p:cNvPr id="34" name="Shape 32"/>
          <p:cNvSpPr/>
          <p:nvPr/>
        </p:nvSpPr>
        <p:spPr>
          <a:xfrm>
            <a:off x="4328160" y="2493263"/>
            <a:ext cx="7559040" cy="1901951"/>
          </a:xfrm>
          <a:prstGeom prst="roundRect">
            <a:avLst>
              <a:gd name="adj" fmla="val 4225"/>
            </a:avLst>
          </a:prstGeom>
          <a:solidFill>
            <a:srgbClr val="FAFAFA"/>
          </a:solidFill>
          <a:ln w="19050">
            <a:solidFill>
              <a:srgbClr val="9C27B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35" name="Shape 33"/>
          <p:cNvSpPr/>
          <p:nvPr/>
        </p:nvSpPr>
        <p:spPr>
          <a:xfrm>
            <a:off x="4474464" y="2578608"/>
            <a:ext cx="2194560" cy="316992"/>
          </a:xfrm>
          <a:prstGeom prst="roundRect">
            <a:avLst>
              <a:gd name="adj" fmla="val 11538"/>
            </a:avLst>
          </a:prstGeom>
          <a:solidFill>
            <a:srgbClr val="F3E5F5"/>
          </a:solidFill>
          <a:ln w="12700">
            <a:solidFill>
              <a:srgbClr val="F3E5F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6" name="Text 34"/>
          <p:cNvSpPr/>
          <p:nvPr/>
        </p:nvSpPr>
        <p:spPr>
          <a:xfrm>
            <a:off x="4511040" y="2602992"/>
            <a:ext cx="20726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b="1" kern="0" spc="267" dirty="0">
                <a:solidFill>
                  <a:srgbClr val="9C2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ROLE</a:t>
            </a:r>
            <a:endParaRPr lang="en-US" sz="1133" dirty="0"/>
          </a:p>
        </p:txBody>
      </p:sp>
      <p:sp>
        <p:nvSpPr>
          <p:cNvPr id="37" name="Shape 35"/>
          <p:cNvSpPr/>
          <p:nvPr/>
        </p:nvSpPr>
        <p:spPr>
          <a:xfrm>
            <a:off x="4450080" y="2956560"/>
            <a:ext cx="7315200" cy="0"/>
          </a:xfrm>
          <a:prstGeom prst="line">
            <a:avLst/>
          </a:prstGeom>
          <a:noFill/>
          <a:ln w="6350">
            <a:solidFill>
              <a:srgbClr val="9C27B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8" name="Text 36"/>
          <p:cNvSpPr/>
          <p:nvPr/>
        </p:nvSpPr>
        <p:spPr>
          <a:xfrm>
            <a:off x="4511040" y="3017520"/>
            <a:ext cx="719328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OpenAI GPT-4o-mini (SymptomAgent): agentic tool-use loop, max 8 turns</a:t>
            </a:r>
            <a:endParaRPr lang="en-US" sz="1600" b="1" dirty="0"/>
          </a:p>
          <a:p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Tool 1: get_patient_profile — fetches age, conditions, allergies, active meds from DB</a:t>
            </a:r>
            <a:endParaRPr lang="en-US" sz="1600" b="1" dirty="0"/>
          </a:p>
          <a:p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Tool 2: rag_search — embeds query via text-embedding-3-small, cosine-searches gold corpus</a:t>
            </a:r>
            <a:endParaRPr lang="en-US" sz="1600" b="1" dirty="0"/>
          </a:p>
        </p:txBody>
      </p:sp>
      <p:sp>
        <p:nvSpPr>
          <p:cNvPr id="39" name="Shape 37"/>
          <p:cNvSpPr/>
          <p:nvPr/>
        </p:nvSpPr>
        <p:spPr>
          <a:xfrm>
            <a:off x="4328160" y="4559808"/>
            <a:ext cx="7559040" cy="1706880"/>
          </a:xfrm>
          <a:prstGeom prst="roundRect">
            <a:avLst>
              <a:gd name="adj" fmla="val 3125"/>
            </a:avLst>
          </a:prstGeom>
          <a:solidFill>
            <a:srgbClr val="FAFAFA"/>
          </a:solidFill>
          <a:ln w="19050">
            <a:solidFill>
              <a:srgbClr val="F59E0B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40" name="Shape 38"/>
          <p:cNvSpPr/>
          <p:nvPr/>
        </p:nvSpPr>
        <p:spPr>
          <a:xfrm>
            <a:off x="4474464" y="4702048"/>
            <a:ext cx="2194560" cy="316992"/>
          </a:xfrm>
          <a:prstGeom prst="roundRect">
            <a:avLst>
              <a:gd name="adj" fmla="val 11538"/>
            </a:avLst>
          </a:prstGeom>
          <a:solidFill>
            <a:srgbClr val="FFF8E1"/>
          </a:solidFill>
          <a:ln w="12700">
            <a:solidFill>
              <a:srgbClr val="FFF8E1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1" name="Text 39"/>
          <p:cNvSpPr/>
          <p:nvPr/>
        </p:nvSpPr>
        <p:spPr>
          <a:xfrm>
            <a:off x="4511040" y="4726432"/>
            <a:ext cx="20726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b="1" kern="0" spc="267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ROLE</a:t>
            </a:r>
            <a:endParaRPr lang="en-US" sz="1133" dirty="0"/>
          </a:p>
        </p:txBody>
      </p:sp>
      <p:sp>
        <p:nvSpPr>
          <p:cNvPr id="42" name="Shape 40"/>
          <p:cNvSpPr/>
          <p:nvPr/>
        </p:nvSpPr>
        <p:spPr>
          <a:xfrm>
            <a:off x="4450080" y="5080000"/>
            <a:ext cx="7315200" cy="0"/>
          </a:xfrm>
          <a:prstGeom prst="line">
            <a:avLst/>
          </a:prstGeom>
          <a:noFill/>
          <a:ln w="6350">
            <a:solidFill>
              <a:srgbClr val="F59E0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3" name="Text 41"/>
          <p:cNvSpPr/>
          <p:nvPr/>
        </p:nvSpPr>
        <p:spPr>
          <a:xfrm>
            <a:off x="4511040" y="5090160"/>
            <a:ext cx="7193280" cy="1030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Symptom query embedded via OpenAI text-embedding-3-small</a:t>
            </a:r>
            <a:endParaRPr lang="en-US" sz="1600" b="1" dirty="0"/>
          </a:p>
          <a:p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Cosine similarity search across 3 gold-standard textbook corpora in pgvector</a:t>
            </a:r>
            <a:endParaRPr lang="en-US" sz="1600" b="1" dirty="0"/>
          </a:p>
          <a:p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Answers grounded in real clinical knowledge — not hallucination</a:t>
            </a:r>
            <a:endParaRPr lang="en-US" sz="1600" b="1" dirty="0"/>
          </a:p>
          <a:p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Emergency rails built-in: life-threatening symptoms → emergency hospital routing</a:t>
            </a:r>
            <a:endParaRPr lang="en-US" sz="1600" b="1" dirty="0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D0F209D-A0FB-66CF-BA23-99B25C005D1C}"/>
              </a:ext>
            </a:extLst>
          </p:cNvPr>
          <p:cNvCxnSpPr>
            <a:stCxn id="6" idx="2"/>
            <a:endCxn id="10" idx="0"/>
          </p:cNvCxnSpPr>
          <p:nvPr/>
        </p:nvCxnSpPr>
        <p:spPr>
          <a:xfrm>
            <a:off x="2097024" y="1731264"/>
            <a:ext cx="0" cy="2306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CDF51934-F12F-AC7C-3160-9C6995D13D96}"/>
              </a:ext>
            </a:extLst>
          </p:cNvPr>
          <p:cNvCxnSpPr>
            <a:stCxn id="10" idx="2"/>
            <a:endCxn id="14" idx="0"/>
          </p:cNvCxnSpPr>
          <p:nvPr/>
        </p:nvCxnSpPr>
        <p:spPr>
          <a:xfrm>
            <a:off x="2097024" y="2669071"/>
            <a:ext cx="0" cy="2265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AD530B17-5CE5-78DD-A13E-91312D237E02}"/>
              </a:ext>
            </a:extLst>
          </p:cNvPr>
          <p:cNvCxnSpPr>
            <a:stCxn id="14" idx="2"/>
            <a:endCxn id="18" idx="0"/>
          </p:cNvCxnSpPr>
          <p:nvPr/>
        </p:nvCxnSpPr>
        <p:spPr>
          <a:xfrm>
            <a:off x="2097024" y="3602736"/>
            <a:ext cx="0" cy="2265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9A47DEC0-C71A-384E-D2E8-DF5BBC619ED6}"/>
              </a:ext>
            </a:extLst>
          </p:cNvPr>
          <p:cNvCxnSpPr>
            <a:stCxn id="18" idx="2"/>
            <a:endCxn id="22" idx="0"/>
          </p:cNvCxnSpPr>
          <p:nvPr/>
        </p:nvCxnSpPr>
        <p:spPr>
          <a:xfrm>
            <a:off x="2097024" y="4536401"/>
            <a:ext cx="0" cy="2226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194775EE-BD0D-8F43-2748-CBB926E20533}"/>
              </a:ext>
            </a:extLst>
          </p:cNvPr>
          <p:cNvCxnSpPr>
            <a:stCxn id="22" idx="2"/>
            <a:endCxn id="26" idx="0"/>
          </p:cNvCxnSpPr>
          <p:nvPr/>
        </p:nvCxnSpPr>
        <p:spPr>
          <a:xfrm>
            <a:off x="2097024" y="5466161"/>
            <a:ext cx="0" cy="2226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7782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19456" cy="8778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341376" y="121920"/>
            <a:ext cx="20726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41376" y="438912"/>
            <a:ext cx="1158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HEALTH RECORD &amp; FAMILY NETWORK TRACKER</a:t>
            </a:r>
            <a:endParaRPr lang="en-US" sz="2667" dirty="0"/>
          </a:p>
        </p:txBody>
      </p:sp>
      <p:sp>
        <p:nvSpPr>
          <p:cNvPr id="6" name="Shape 4"/>
          <p:cNvSpPr/>
          <p:nvPr/>
        </p:nvSpPr>
        <p:spPr>
          <a:xfrm>
            <a:off x="4181856" y="3004312"/>
            <a:ext cx="3413760" cy="18288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tx1">
                <a:lumMod val="95000"/>
                <a:lumOff val="5000"/>
              </a:schemeClr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4181856" y="3065272"/>
            <a:ext cx="3413760" cy="1706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i="1" dirty="0">
                <a:solidFill>
                  <a:srgbClr val="1A202C"/>
                </a:solidFill>
                <a:ea typeface="Calibri" pitchFamily="34" charset="-122"/>
                <a:cs typeface="Calibri" pitchFamily="34" charset="-120"/>
              </a:rPr>
              <a:t>Patient</a:t>
            </a:r>
            <a:endParaRPr lang="en-US" sz="2400" b="1" i="1" dirty="0"/>
          </a:p>
          <a:p>
            <a:pPr algn="ctr"/>
            <a:r>
              <a:rPr lang="en-US" sz="2400" b="1" i="1" dirty="0">
                <a:solidFill>
                  <a:srgbClr val="1A202C"/>
                </a:solidFill>
                <a:ea typeface="Calibri" pitchFamily="34" charset="-122"/>
                <a:cs typeface="Calibri" pitchFamily="34" charset="-120"/>
              </a:rPr>
              <a:t>Health Record</a:t>
            </a:r>
            <a:endParaRPr lang="en-US" sz="2400" b="1" i="1" dirty="0"/>
          </a:p>
        </p:txBody>
      </p:sp>
      <p:sp>
        <p:nvSpPr>
          <p:cNvPr id="8" name="Shape 6"/>
          <p:cNvSpPr/>
          <p:nvPr/>
        </p:nvSpPr>
        <p:spPr>
          <a:xfrm>
            <a:off x="707136" y="1700784"/>
            <a:ext cx="3474720" cy="1280160"/>
          </a:xfrm>
          <a:prstGeom prst="roundRect">
            <a:avLst>
              <a:gd name="adj" fmla="val 6667"/>
            </a:avLst>
          </a:prstGeom>
          <a:solidFill>
            <a:srgbClr val="E0F7FA"/>
          </a:solidFill>
          <a:ln w="19050">
            <a:solidFill>
              <a:srgbClr val="00BCD4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9" name="Text 7"/>
          <p:cNvSpPr/>
          <p:nvPr/>
        </p:nvSpPr>
        <p:spPr>
          <a:xfrm>
            <a:off x="853440" y="1822704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467" dirty="0"/>
          </a:p>
        </p:txBody>
      </p:sp>
      <p:sp>
        <p:nvSpPr>
          <p:cNvPr id="10" name="Text 8"/>
          <p:cNvSpPr/>
          <p:nvPr/>
        </p:nvSpPr>
        <p:spPr>
          <a:xfrm>
            <a:off x="853440" y="2212848"/>
            <a:ext cx="3182112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Unified chronological feed</a:t>
            </a:r>
            <a:endParaRPr lang="en-US" sz="1267" b="1" dirty="0"/>
          </a:p>
          <a:p>
            <a:r>
              <a:rPr lang="en-US" sz="1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from 6 DB tables</a:t>
            </a:r>
            <a:endParaRPr lang="en-US" sz="1267" b="1" dirty="0"/>
          </a:p>
        </p:txBody>
      </p:sp>
      <p:sp>
        <p:nvSpPr>
          <p:cNvPr id="11" name="Shape 9"/>
          <p:cNvSpPr/>
          <p:nvPr/>
        </p:nvSpPr>
        <p:spPr>
          <a:xfrm>
            <a:off x="6380480" y="1315212"/>
            <a:ext cx="3438144" cy="1280160"/>
          </a:xfrm>
          <a:prstGeom prst="roundRect">
            <a:avLst>
              <a:gd name="adj" fmla="val 6667"/>
            </a:avLst>
          </a:prstGeom>
          <a:solidFill>
            <a:srgbClr val="F3E5F5"/>
          </a:solidFill>
          <a:ln w="19050">
            <a:solidFill>
              <a:srgbClr val="9C27B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2" name="Text 10"/>
          <p:cNvSpPr/>
          <p:nvPr/>
        </p:nvSpPr>
        <p:spPr>
          <a:xfrm>
            <a:off x="6526784" y="1437132"/>
            <a:ext cx="3145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9C2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Profile</a:t>
            </a:r>
            <a:endParaRPr lang="en-US" sz="1467" dirty="0"/>
          </a:p>
        </p:txBody>
      </p:sp>
      <p:sp>
        <p:nvSpPr>
          <p:cNvPr id="13" name="Text 11"/>
          <p:cNvSpPr/>
          <p:nvPr/>
        </p:nvSpPr>
        <p:spPr>
          <a:xfrm>
            <a:off x="6526784" y="1827276"/>
            <a:ext cx="3145536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Vitals, conditions,</a:t>
            </a:r>
            <a:endParaRPr lang="en-US" sz="1267" b="1" dirty="0"/>
          </a:p>
          <a:p>
            <a:r>
              <a:rPr lang="en-US" sz="1267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allergies, BMI</a:t>
            </a:r>
            <a:endParaRPr lang="en-US" sz="1267" b="1" dirty="0"/>
          </a:p>
        </p:txBody>
      </p:sp>
      <p:sp>
        <p:nvSpPr>
          <p:cNvPr id="17" name="Shape 15"/>
          <p:cNvSpPr/>
          <p:nvPr/>
        </p:nvSpPr>
        <p:spPr>
          <a:xfrm>
            <a:off x="8302752" y="3200400"/>
            <a:ext cx="3438144" cy="1280160"/>
          </a:xfrm>
          <a:prstGeom prst="roundRect">
            <a:avLst>
              <a:gd name="adj" fmla="val 6667"/>
            </a:avLst>
          </a:prstGeom>
          <a:solidFill>
            <a:srgbClr val="FFF8E1"/>
          </a:solidFill>
          <a:ln w="19050">
            <a:solidFill>
              <a:srgbClr val="F59E0B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8" name="Text 16"/>
          <p:cNvSpPr/>
          <p:nvPr/>
        </p:nvSpPr>
        <p:spPr>
          <a:xfrm>
            <a:off x="8449056" y="3322320"/>
            <a:ext cx="3145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467" dirty="0"/>
          </a:p>
        </p:txBody>
      </p:sp>
      <p:sp>
        <p:nvSpPr>
          <p:cNvPr id="19" name="Text 17"/>
          <p:cNvSpPr/>
          <p:nvPr/>
        </p:nvSpPr>
        <p:spPr>
          <a:xfrm>
            <a:off x="8449056" y="3712464"/>
            <a:ext cx="3145536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 medical</a:t>
            </a:r>
            <a:endParaRPr lang="en-US" sz="1267" b="1" dirty="0"/>
          </a:p>
          <a:p>
            <a:r>
              <a:rPr lang="en-US" sz="1267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storage</a:t>
            </a:r>
            <a:endParaRPr lang="en-US" sz="1267" b="1" dirty="0"/>
          </a:p>
        </p:txBody>
      </p:sp>
      <p:sp>
        <p:nvSpPr>
          <p:cNvPr id="20" name="Shape 18"/>
          <p:cNvSpPr/>
          <p:nvPr/>
        </p:nvSpPr>
        <p:spPr>
          <a:xfrm>
            <a:off x="6380480" y="5077968"/>
            <a:ext cx="3291840" cy="1280160"/>
          </a:xfrm>
          <a:prstGeom prst="roundRect">
            <a:avLst>
              <a:gd name="adj" fmla="val 6667"/>
            </a:avLst>
          </a:prstGeom>
          <a:solidFill>
            <a:srgbClr val="E0F7FA"/>
          </a:solidFill>
          <a:ln w="19050">
            <a:solidFill>
              <a:srgbClr val="00BCD4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1" name="Text 19"/>
          <p:cNvSpPr/>
          <p:nvPr/>
        </p:nvSpPr>
        <p:spPr>
          <a:xfrm>
            <a:off x="6526784" y="5199888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Medications</a:t>
            </a:r>
            <a:endParaRPr lang="en-US" sz="1467" dirty="0"/>
          </a:p>
        </p:txBody>
      </p:sp>
      <p:sp>
        <p:nvSpPr>
          <p:cNvPr id="22" name="Text 20"/>
          <p:cNvSpPr/>
          <p:nvPr/>
        </p:nvSpPr>
        <p:spPr>
          <a:xfrm>
            <a:off x="6526784" y="5590032"/>
            <a:ext cx="2999232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+ past log</a:t>
            </a:r>
            <a:endParaRPr lang="en-US" sz="1267" b="1" dirty="0"/>
          </a:p>
          <a:p>
            <a:r>
              <a:rPr lang="en-US" sz="1267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dosages</a:t>
            </a:r>
            <a:endParaRPr lang="en-US" sz="1267" b="1" dirty="0"/>
          </a:p>
        </p:txBody>
      </p:sp>
      <p:sp>
        <p:nvSpPr>
          <p:cNvPr id="23" name="Shape 21"/>
          <p:cNvSpPr/>
          <p:nvPr/>
        </p:nvSpPr>
        <p:spPr>
          <a:xfrm>
            <a:off x="707136" y="4772152"/>
            <a:ext cx="3474720" cy="1280160"/>
          </a:xfrm>
          <a:prstGeom prst="roundRect">
            <a:avLst>
              <a:gd name="adj" fmla="val 6667"/>
            </a:avLst>
          </a:prstGeom>
          <a:solidFill>
            <a:srgbClr val="FFEBEE"/>
          </a:solidFill>
          <a:ln w="19050">
            <a:solidFill>
              <a:srgbClr val="E5393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4" name="Text 22"/>
          <p:cNvSpPr/>
          <p:nvPr/>
        </p:nvSpPr>
        <p:spPr>
          <a:xfrm>
            <a:off x="853440" y="4894072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Network</a:t>
            </a:r>
            <a:endParaRPr lang="en-US" sz="1467" dirty="0"/>
          </a:p>
        </p:txBody>
      </p:sp>
      <p:sp>
        <p:nvSpPr>
          <p:cNvPr id="25" name="Text 23"/>
          <p:cNvSpPr/>
          <p:nvPr/>
        </p:nvSpPr>
        <p:spPr>
          <a:xfrm>
            <a:off x="853440" y="5284216"/>
            <a:ext cx="3182112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RXF-XXXXXX crypto codes</a:t>
            </a:r>
            <a:endParaRPr lang="en-US" sz="1267" b="1" dirty="0"/>
          </a:p>
          <a:p>
            <a:r>
              <a:rPr lang="en-US" sz="1267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Privacy-compliant sharing</a:t>
            </a:r>
            <a:endParaRPr lang="en-US" sz="1267" b="1" dirty="0"/>
          </a:p>
        </p:txBody>
      </p:sp>
      <p:sp>
        <p:nvSpPr>
          <p:cNvPr id="26" name="Shape 24"/>
          <p:cNvSpPr/>
          <p:nvPr/>
        </p:nvSpPr>
        <p:spPr>
          <a:xfrm>
            <a:off x="182880" y="6496304"/>
            <a:ext cx="11826240" cy="341376"/>
          </a:xfrm>
          <a:prstGeom prst="roundRect">
            <a:avLst>
              <a:gd name="adj" fmla="val 14286"/>
            </a:avLst>
          </a:prstGeom>
          <a:solidFill>
            <a:srgbClr val="FFF8E1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7" name="Text 25"/>
          <p:cNvSpPr/>
          <p:nvPr/>
        </p:nvSpPr>
        <p:spPr>
          <a:xfrm>
            <a:off x="304800" y="6520688"/>
            <a:ext cx="115824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TABLES: medical_report · prescription_scan · symptom_log · vaccination_record · surgical_history · known_condition</a:t>
            </a:r>
            <a:endParaRPr lang="en-US" sz="1067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7782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19456" cy="87782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341376" y="121920"/>
            <a:ext cx="20726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4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41376" y="438912"/>
            <a:ext cx="1158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DOCTOR RX-PAD GENERATOR</a:t>
            </a:r>
            <a:endParaRPr lang="en-US" sz="2667" dirty="0"/>
          </a:p>
        </p:txBody>
      </p:sp>
      <p:sp>
        <p:nvSpPr>
          <p:cNvPr id="6" name="Shape 4"/>
          <p:cNvSpPr/>
          <p:nvPr/>
        </p:nvSpPr>
        <p:spPr>
          <a:xfrm>
            <a:off x="268224" y="1024128"/>
            <a:ext cx="3657600" cy="707136"/>
          </a:xfrm>
          <a:prstGeom prst="roundRect">
            <a:avLst>
              <a:gd name="adj" fmla="val 13793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414528" y="1097281"/>
            <a:ext cx="3364992" cy="36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Login</a:t>
            </a:r>
            <a:endParaRPr lang="en-US" sz="1600" b="1" dirty="0"/>
          </a:p>
        </p:txBody>
      </p:sp>
      <p:sp>
        <p:nvSpPr>
          <p:cNvPr id="8" name="Text 6"/>
          <p:cNvSpPr/>
          <p:nvPr/>
        </p:nvSpPr>
        <p:spPr>
          <a:xfrm>
            <a:off x="414528" y="1391839"/>
            <a:ext cx="3364992" cy="296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role — authenticated session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68224" y="1952669"/>
            <a:ext cx="3657600" cy="707136"/>
          </a:xfrm>
          <a:prstGeom prst="roundRect">
            <a:avLst>
              <a:gd name="adj" fmla="val 13793"/>
            </a:avLst>
          </a:prstGeom>
          <a:solidFill>
            <a:srgbClr val="2D3748"/>
          </a:solidFill>
          <a:ln w="12700">
            <a:solidFill>
              <a:srgbClr val="3D4A5C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/>
          <p:nvPr/>
        </p:nvSpPr>
        <p:spPr>
          <a:xfrm>
            <a:off x="414528" y="2025822"/>
            <a:ext cx="3364992" cy="36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Search</a:t>
            </a:r>
            <a:endParaRPr lang="en-US" sz="1600" b="1" dirty="0"/>
          </a:p>
        </p:txBody>
      </p:sp>
      <p:sp>
        <p:nvSpPr>
          <p:cNvPr id="12" name="Text 10"/>
          <p:cNvSpPr/>
          <p:nvPr/>
        </p:nvSpPr>
        <p:spPr>
          <a:xfrm>
            <a:off x="414528" y="2320380"/>
            <a:ext cx="3364992" cy="296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name / RXF code / patient ID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68224" y="2881210"/>
            <a:ext cx="3657600" cy="707136"/>
          </a:xfrm>
          <a:prstGeom prst="roundRect">
            <a:avLst>
              <a:gd name="adj" fmla="val 13793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5" name="Text 13"/>
          <p:cNvSpPr/>
          <p:nvPr/>
        </p:nvSpPr>
        <p:spPr>
          <a:xfrm>
            <a:off x="414528" y="2954363"/>
            <a:ext cx="3364992" cy="36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Auto-fill Patient Vitals</a:t>
            </a:r>
            <a:endParaRPr lang="en-US" sz="1600" b="1" dirty="0"/>
          </a:p>
        </p:txBody>
      </p:sp>
      <p:sp>
        <p:nvSpPr>
          <p:cNvPr id="16" name="Text 14"/>
          <p:cNvSpPr/>
          <p:nvPr/>
        </p:nvSpPr>
        <p:spPr>
          <a:xfrm>
            <a:off x="414528" y="3248921"/>
            <a:ext cx="3364992" cy="296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Pulled from latest health profile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68224" y="3809751"/>
            <a:ext cx="3657600" cy="707136"/>
          </a:xfrm>
          <a:prstGeom prst="roundRect">
            <a:avLst>
              <a:gd name="adj" fmla="val 13793"/>
            </a:avLst>
          </a:prstGeom>
          <a:solidFill>
            <a:srgbClr val="2D3748"/>
          </a:solidFill>
          <a:ln w="12700">
            <a:solidFill>
              <a:srgbClr val="3D4A5C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9" name="Text 17"/>
          <p:cNvSpPr/>
          <p:nvPr/>
        </p:nvSpPr>
        <p:spPr>
          <a:xfrm>
            <a:off x="414528" y="3882904"/>
            <a:ext cx="3364992" cy="36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Autocomplete</a:t>
            </a:r>
            <a:endParaRPr lang="en-US" sz="1600" b="1" dirty="0"/>
          </a:p>
        </p:txBody>
      </p:sp>
      <p:sp>
        <p:nvSpPr>
          <p:cNvPr id="20" name="Text 18"/>
          <p:cNvSpPr/>
          <p:nvPr/>
        </p:nvSpPr>
        <p:spPr>
          <a:xfrm>
            <a:off x="414528" y="4177462"/>
            <a:ext cx="3364992" cy="296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pg_trgm fuzzy search on DrugBank catalog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68224" y="4738292"/>
            <a:ext cx="3657600" cy="707136"/>
          </a:xfrm>
          <a:prstGeom prst="roundRect">
            <a:avLst>
              <a:gd name="adj" fmla="val 13793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3" name="Text 21"/>
          <p:cNvSpPr/>
          <p:nvPr/>
        </p:nvSpPr>
        <p:spPr>
          <a:xfrm>
            <a:off x="414528" y="4811445"/>
            <a:ext cx="3364992" cy="36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Interaction Safety Check</a:t>
            </a:r>
            <a:endParaRPr lang="en-US" sz="1600" b="1" dirty="0"/>
          </a:p>
        </p:txBody>
      </p:sp>
      <p:sp>
        <p:nvSpPr>
          <p:cNvPr id="24" name="Text 22"/>
          <p:cNvSpPr/>
          <p:nvPr/>
        </p:nvSpPr>
        <p:spPr>
          <a:xfrm>
            <a:off x="414528" y="5106003"/>
            <a:ext cx="3364992" cy="296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GPT-4o-mini validation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68224" y="5666833"/>
            <a:ext cx="3657600" cy="707136"/>
          </a:xfrm>
          <a:prstGeom prst="roundRect">
            <a:avLst>
              <a:gd name="adj" fmla="val 13793"/>
            </a:avLst>
          </a:prstGeom>
          <a:solidFill>
            <a:srgbClr val="2D3748"/>
          </a:solidFill>
          <a:ln w="12700">
            <a:solidFill>
              <a:srgbClr val="3D4A5C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7" name="Text 25"/>
          <p:cNvSpPr/>
          <p:nvPr/>
        </p:nvSpPr>
        <p:spPr>
          <a:xfrm>
            <a:off x="414528" y="5739986"/>
            <a:ext cx="3364992" cy="36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 Generation</a:t>
            </a:r>
            <a:endParaRPr lang="en-US" sz="1600" b="1" dirty="0"/>
          </a:p>
        </p:txBody>
      </p:sp>
      <p:sp>
        <p:nvSpPr>
          <p:cNvPr id="28" name="Text 26"/>
          <p:cNvSpPr/>
          <p:nvPr/>
        </p:nvSpPr>
        <p:spPr>
          <a:xfrm>
            <a:off x="414528" y="6034544"/>
            <a:ext cx="3364992" cy="296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to prescription_scan + items table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328160" y="1024128"/>
            <a:ext cx="7559040" cy="1341120"/>
          </a:xfrm>
          <a:prstGeom prst="roundRect">
            <a:avLst>
              <a:gd name="adj" fmla="val 5455"/>
            </a:avLst>
          </a:prstGeom>
          <a:solidFill>
            <a:srgbClr val="FAFAFA"/>
          </a:solidFill>
          <a:ln w="19050">
            <a:solidFill>
              <a:srgbClr val="059669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30" name="Shape 28"/>
          <p:cNvSpPr/>
          <p:nvPr/>
        </p:nvSpPr>
        <p:spPr>
          <a:xfrm>
            <a:off x="4474464" y="1109472"/>
            <a:ext cx="2194560" cy="316992"/>
          </a:xfrm>
          <a:prstGeom prst="roundRect">
            <a:avLst>
              <a:gd name="adj" fmla="val 11538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1" name="Text 29"/>
          <p:cNvSpPr/>
          <p:nvPr/>
        </p:nvSpPr>
        <p:spPr>
          <a:xfrm>
            <a:off x="4511040" y="1133856"/>
            <a:ext cx="20726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b="1" kern="0" spc="267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133" dirty="0"/>
          </a:p>
        </p:txBody>
      </p:sp>
      <p:sp>
        <p:nvSpPr>
          <p:cNvPr id="32" name="Shape 30"/>
          <p:cNvSpPr/>
          <p:nvPr/>
        </p:nvSpPr>
        <p:spPr>
          <a:xfrm>
            <a:off x="4450080" y="1487424"/>
            <a:ext cx="7315200" cy="0"/>
          </a:xfrm>
          <a:prstGeom prst="line">
            <a:avLst/>
          </a:prstGeom>
          <a:noFill/>
          <a:ln w="6350">
            <a:solidFill>
              <a:srgbClr val="059669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3" name="Text 31"/>
          <p:cNvSpPr/>
          <p:nvPr/>
        </p:nvSpPr>
        <p:spPr>
          <a:xfrm>
            <a:off x="4511040" y="1548384"/>
            <a:ext cx="71932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patient + patient_allergy tables: auto-filled vitals and allergy warnings</a:t>
            </a:r>
            <a:endParaRPr lang="en-US" sz="1600" b="1" dirty="0"/>
          </a:p>
          <a:p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DrugBank catalog: drug name autocomplete with ATC codes</a:t>
            </a:r>
            <a:endParaRPr lang="en-US" sz="1600" b="1" dirty="0"/>
          </a:p>
          <a:p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prescription_scan + prescription_item tables: saved Rx records</a:t>
            </a:r>
            <a:endParaRPr lang="en-US" sz="1600" b="1" dirty="0"/>
          </a:p>
        </p:txBody>
      </p:sp>
      <p:sp>
        <p:nvSpPr>
          <p:cNvPr id="34" name="Shape 32"/>
          <p:cNvSpPr/>
          <p:nvPr/>
        </p:nvSpPr>
        <p:spPr>
          <a:xfrm>
            <a:off x="4328160" y="2462784"/>
            <a:ext cx="7559040" cy="1853184"/>
          </a:xfrm>
          <a:prstGeom prst="roundRect">
            <a:avLst>
              <a:gd name="adj" fmla="val 3947"/>
            </a:avLst>
          </a:prstGeom>
          <a:solidFill>
            <a:srgbClr val="FAFAFA"/>
          </a:solidFill>
          <a:ln w="19050">
            <a:solidFill>
              <a:srgbClr val="9C27B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35" name="Shape 33"/>
          <p:cNvSpPr/>
          <p:nvPr/>
        </p:nvSpPr>
        <p:spPr>
          <a:xfrm>
            <a:off x="4474464" y="2548128"/>
            <a:ext cx="2194560" cy="316992"/>
          </a:xfrm>
          <a:prstGeom prst="roundRect">
            <a:avLst>
              <a:gd name="adj" fmla="val 11538"/>
            </a:avLst>
          </a:prstGeom>
          <a:solidFill>
            <a:srgbClr val="F3E5F5"/>
          </a:solidFill>
          <a:ln w="12700">
            <a:solidFill>
              <a:srgbClr val="F3E5F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6" name="Text 34"/>
          <p:cNvSpPr/>
          <p:nvPr/>
        </p:nvSpPr>
        <p:spPr>
          <a:xfrm>
            <a:off x="4511040" y="2572512"/>
            <a:ext cx="20726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b="1" kern="0" spc="267" dirty="0">
                <a:solidFill>
                  <a:srgbClr val="9C2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ROLE</a:t>
            </a:r>
            <a:endParaRPr lang="en-US" sz="1133" dirty="0"/>
          </a:p>
        </p:txBody>
      </p:sp>
      <p:sp>
        <p:nvSpPr>
          <p:cNvPr id="37" name="Shape 35"/>
          <p:cNvSpPr/>
          <p:nvPr/>
        </p:nvSpPr>
        <p:spPr>
          <a:xfrm>
            <a:off x="4450080" y="2926080"/>
            <a:ext cx="7315200" cy="0"/>
          </a:xfrm>
          <a:prstGeom prst="line">
            <a:avLst/>
          </a:prstGeom>
          <a:noFill/>
          <a:ln w="6350">
            <a:solidFill>
              <a:srgbClr val="9C27B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8" name="Text 36"/>
          <p:cNvSpPr/>
          <p:nvPr/>
        </p:nvSpPr>
        <p:spPr>
          <a:xfrm>
            <a:off x="4511040" y="2987040"/>
            <a:ext cx="7193280" cy="1182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OpenAI GPT-4o-mini: validates drug combinations for interaction conflicts before Rx is finalized</a:t>
            </a:r>
            <a:endParaRPr lang="en-US" sz="1600" b="1" dirty="0"/>
          </a:p>
          <a:p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OpenAI GPT-4o-mini (summarizeSymptoms): extracts structured key symptoms from doctor's freetext notes</a:t>
            </a:r>
            <a:endParaRPr lang="en-US" sz="1600" b="1" dirty="0"/>
          </a:p>
          <a:p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PrintPrescription page generates a formatted patient handout with full Rx details</a:t>
            </a:r>
            <a:endParaRPr lang="en-US" sz="1600" b="1" dirty="0"/>
          </a:p>
        </p:txBody>
      </p:sp>
      <p:sp>
        <p:nvSpPr>
          <p:cNvPr id="39" name="Shape 37"/>
          <p:cNvSpPr/>
          <p:nvPr/>
        </p:nvSpPr>
        <p:spPr>
          <a:xfrm>
            <a:off x="4328160" y="4413504"/>
            <a:ext cx="7559040" cy="1918037"/>
          </a:xfrm>
          <a:prstGeom prst="roundRect">
            <a:avLst>
              <a:gd name="adj" fmla="val 3297"/>
            </a:avLst>
          </a:prstGeom>
          <a:solidFill>
            <a:srgbClr val="FAFAFA"/>
          </a:solidFill>
          <a:ln w="19050">
            <a:solidFill>
              <a:srgbClr val="F59E0B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40" name="Shape 38"/>
          <p:cNvSpPr/>
          <p:nvPr/>
        </p:nvSpPr>
        <p:spPr>
          <a:xfrm>
            <a:off x="4474464" y="4498848"/>
            <a:ext cx="2194560" cy="316992"/>
          </a:xfrm>
          <a:prstGeom prst="roundRect">
            <a:avLst>
              <a:gd name="adj" fmla="val 11538"/>
            </a:avLst>
          </a:prstGeom>
          <a:solidFill>
            <a:srgbClr val="FFF8E1"/>
          </a:solidFill>
          <a:ln w="12700">
            <a:solidFill>
              <a:srgbClr val="FFF8E1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1" name="Text 39"/>
          <p:cNvSpPr/>
          <p:nvPr/>
        </p:nvSpPr>
        <p:spPr>
          <a:xfrm>
            <a:off x="4511040" y="4523232"/>
            <a:ext cx="20726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b="1" kern="0" spc="267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ROLE</a:t>
            </a:r>
            <a:endParaRPr lang="en-US" sz="1133" dirty="0"/>
          </a:p>
        </p:txBody>
      </p:sp>
      <p:sp>
        <p:nvSpPr>
          <p:cNvPr id="42" name="Shape 40"/>
          <p:cNvSpPr/>
          <p:nvPr/>
        </p:nvSpPr>
        <p:spPr>
          <a:xfrm>
            <a:off x="4450080" y="4876800"/>
            <a:ext cx="7315200" cy="0"/>
          </a:xfrm>
          <a:prstGeom prst="line">
            <a:avLst/>
          </a:prstGeom>
          <a:noFill/>
          <a:ln w="6350">
            <a:solidFill>
              <a:srgbClr val="F59E0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3" name="Text 41"/>
          <p:cNvSpPr/>
          <p:nvPr/>
        </p:nvSpPr>
        <p:spPr>
          <a:xfrm>
            <a:off x="4511040" y="4937760"/>
            <a:ext cx="7193280" cy="1548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Drug safety warning chunks injected into validation prompt — prevents overlooked interactions</a:t>
            </a:r>
            <a:endParaRPr lang="en-US" sz="1600" b="1" dirty="0"/>
          </a:p>
          <a:p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pg_trgm fuzzy match resolves partial or misspelled drug entries during autocomplete</a:t>
            </a:r>
            <a:endParaRPr lang="en-US" sz="1600" b="1" dirty="0"/>
          </a:p>
          <a:p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Key symptoms stored for structured record-keeping and future RAG retrieval</a:t>
            </a:r>
            <a:endParaRPr lang="en-US" sz="1600" b="1" dirty="0"/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01BC96B4-42EA-6F99-A23C-0D073CB73DAF}"/>
              </a:ext>
            </a:extLst>
          </p:cNvPr>
          <p:cNvCxnSpPr>
            <a:stCxn id="6" idx="2"/>
            <a:endCxn id="10" idx="0"/>
          </p:cNvCxnSpPr>
          <p:nvPr/>
        </p:nvCxnSpPr>
        <p:spPr>
          <a:xfrm>
            <a:off x="2097024" y="1731264"/>
            <a:ext cx="0" cy="2214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8823EBF7-68E5-F649-54F4-01A784E4A8D8}"/>
              </a:ext>
            </a:extLst>
          </p:cNvPr>
          <p:cNvCxnSpPr>
            <a:stCxn id="10" idx="2"/>
            <a:endCxn id="14" idx="0"/>
          </p:cNvCxnSpPr>
          <p:nvPr/>
        </p:nvCxnSpPr>
        <p:spPr>
          <a:xfrm>
            <a:off x="2097024" y="2659805"/>
            <a:ext cx="0" cy="2214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A7E6F05B-1973-97E0-2106-8E97EBCB7BD9}"/>
              </a:ext>
            </a:extLst>
          </p:cNvPr>
          <p:cNvCxnSpPr>
            <a:stCxn id="14" idx="2"/>
            <a:endCxn id="18" idx="0"/>
          </p:cNvCxnSpPr>
          <p:nvPr/>
        </p:nvCxnSpPr>
        <p:spPr>
          <a:xfrm>
            <a:off x="2097024" y="3588346"/>
            <a:ext cx="0" cy="2214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6319E02D-48C5-CF1E-1974-6A0C4CD4CDF0}"/>
              </a:ext>
            </a:extLst>
          </p:cNvPr>
          <p:cNvCxnSpPr>
            <a:stCxn id="18" idx="2"/>
            <a:endCxn id="22" idx="0"/>
          </p:cNvCxnSpPr>
          <p:nvPr/>
        </p:nvCxnSpPr>
        <p:spPr>
          <a:xfrm>
            <a:off x="2097024" y="4516887"/>
            <a:ext cx="0" cy="2214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407460DD-B5AE-D5D4-1873-D72C0ABCEA88}"/>
              </a:ext>
            </a:extLst>
          </p:cNvPr>
          <p:cNvCxnSpPr>
            <a:stCxn id="22" idx="2"/>
            <a:endCxn id="26" idx="0"/>
          </p:cNvCxnSpPr>
          <p:nvPr/>
        </p:nvCxnSpPr>
        <p:spPr>
          <a:xfrm>
            <a:off x="2097024" y="5445428"/>
            <a:ext cx="0" cy="2214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7782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19456" cy="877824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341376" y="121920"/>
            <a:ext cx="20726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400" dirty="0">
                <a:solidFill>
                  <a:srgbClr val="9C2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41376" y="438912"/>
            <a:ext cx="1158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INSIGHT GENERATOR </a:t>
            </a:r>
            <a:endParaRPr lang="en-US" sz="2667" dirty="0"/>
          </a:p>
        </p:txBody>
      </p:sp>
      <p:sp>
        <p:nvSpPr>
          <p:cNvPr id="6" name="Shape 4"/>
          <p:cNvSpPr/>
          <p:nvPr/>
        </p:nvSpPr>
        <p:spPr>
          <a:xfrm>
            <a:off x="219456" y="1024128"/>
            <a:ext cx="5730240" cy="390144"/>
          </a:xfrm>
          <a:prstGeom prst="roundRect">
            <a:avLst>
              <a:gd name="adj" fmla="val 12500"/>
            </a:avLst>
          </a:prstGeom>
          <a:solidFill>
            <a:srgbClr val="F0F0F0"/>
          </a:solidFill>
          <a:ln w="12700">
            <a:solidFill>
              <a:srgbClr val="E9D5F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341376" y="107289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9C2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PATIENT-FACING: Health Insights Dashboard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42304" y="1024128"/>
            <a:ext cx="5730240" cy="390144"/>
          </a:xfrm>
          <a:prstGeom prst="roundRect">
            <a:avLst>
              <a:gd name="adj" fmla="val 12500"/>
            </a:avLst>
          </a:prstGeom>
          <a:solidFill>
            <a:srgbClr val="F0F0F0"/>
          </a:solidFill>
          <a:ln w="12700">
            <a:solidFill>
              <a:srgbClr val="9C27B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Text 7"/>
          <p:cNvSpPr/>
          <p:nvPr/>
        </p:nvSpPr>
        <p:spPr>
          <a:xfrm>
            <a:off x="6364224" y="107289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9C2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DOCTOR-FACING: Clinical Patient Brief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19456" y="1511808"/>
            <a:ext cx="5730240" cy="682752"/>
          </a:xfrm>
          <a:prstGeom prst="roundRect">
            <a:avLst>
              <a:gd name="adj" fmla="val 14286"/>
            </a:avLst>
          </a:prstGeom>
          <a:solidFill>
            <a:srgbClr val="F5F0FF"/>
          </a:solidFill>
          <a:ln w="12700">
            <a:solidFill>
              <a:srgbClr val="E9D5FF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/>
          <p:nvPr/>
        </p:nvSpPr>
        <p:spPr>
          <a:xfrm>
            <a:off x="365760" y="1584961"/>
            <a:ext cx="5437632" cy="355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Profile Analysis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" y="1866839"/>
            <a:ext cx="5437632" cy="286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Demographics, conditions, allergies, BMI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19457" y="2414017"/>
            <a:ext cx="5730240" cy="682752"/>
          </a:xfrm>
          <a:prstGeom prst="roundRect">
            <a:avLst>
              <a:gd name="adj" fmla="val 14286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5" name="Text 13"/>
          <p:cNvSpPr/>
          <p:nvPr/>
        </p:nvSpPr>
        <p:spPr>
          <a:xfrm>
            <a:off x="365761" y="2487170"/>
            <a:ext cx="5437632" cy="355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Report History Analysis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65761" y="2769048"/>
            <a:ext cx="5437632" cy="286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historical lab values with timestamps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19456" y="3315851"/>
            <a:ext cx="5730240" cy="682752"/>
          </a:xfrm>
          <a:prstGeom prst="roundRect">
            <a:avLst>
              <a:gd name="adj" fmla="val 14286"/>
            </a:avLst>
          </a:prstGeom>
          <a:solidFill>
            <a:srgbClr val="F5F0FF"/>
          </a:solidFill>
          <a:ln w="12700">
            <a:solidFill>
              <a:srgbClr val="E9D5FF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9" name="Text 17"/>
          <p:cNvSpPr/>
          <p:nvPr/>
        </p:nvSpPr>
        <p:spPr>
          <a:xfrm>
            <a:off x="365760" y="3389004"/>
            <a:ext cx="5437632" cy="355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Search and Analysis (top 3)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65760" y="3670882"/>
            <a:ext cx="5437632" cy="286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search on medical textbook corpus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19456" y="4217685"/>
            <a:ext cx="5730240" cy="682752"/>
          </a:xfrm>
          <a:prstGeom prst="roundRect">
            <a:avLst>
              <a:gd name="adj" fmla="val 14286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3" name="Text 21"/>
          <p:cNvSpPr/>
          <p:nvPr/>
        </p:nvSpPr>
        <p:spPr>
          <a:xfrm>
            <a:off x="365760" y="4290838"/>
            <a:ext cx="5437632" cy="355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Personalized Insight Generation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65760" y="4572716"/>
            <a:ext cx="5437632" cy="286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health_score · trend_alerts · risk_breakdown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242304" y="1511808"/>
            <a:ext cx="5730240" cy="682752"/>
          </a:xfrm>
          <a:prstGeom prst="roundRect">
            <a:avLst>
              <a:gd name="adj" fmla="val 14286"/>
            </a:avLst>
          </a:prstGeom>
          <a:solidFill>
            <a:srgbClr val="F5F0FF"/>
          </a:solidFill>
          <a:ln w="12700">
            <a:solidFill>
              <a:srgbClr val="9C27B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6" name="Text 24"/>
          <p:cNvSpPr/>
          <p:nvPr/>
        </p:nvSpPr>
        <p:spPr>
          <a:xfrm>
            <a:off x="6388608" y="1584961"/>
            <a:ext cx="5437632" cy="355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Clinical Chart 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88608" y="1866839"/>
            <a:ext cx="5437632" cy="286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clinical chart from DB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242304" y="2414017"/>
            <a:ext cx="5730240" cy="682752"/>
          </a:xfrm>
          <a:prstGeom prst="roundRect">
            <a:avLst>
              <a:gd name="adj" fmla="val 14286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30" name="Text 28"/>
          <p:cNvSpPr/>
          <p:nvPr/>
        </p:nvSpPr>
        <p:spPr>
          <a:xfrm>
            <a:off x="6388608" y="2487170"/>
            <a:ext cx="5437632" cy="355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Search and Analysis </a:t>
            </a:r>
            <a:r>
              <a:rPr lang="en-US" sz="16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(top 2–3 abnormal)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388608" y="2769048"/>
            <a:ext cx="5437632" cy="286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Harrison's / Davidson's / MedlinePlus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242304" y="3313832"/>
            <a:ext cx="5730240" cy="682752"/>
          </a:xfrm>
          <a:prstGeom prst="roundRect">
            <a:avLst>
              <a:gd name="adj" fmla="val 14286"/>
            </a:avLst>
          </a:prstGeom>
          <a:solidFill>
            <a:srgbClr val="F5F0FF"/>
          </a:solidFill>
          <a:ln w="12700">
            <a:solidFill>
              <a:srgbClr val="9C27B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34" name="Text 32"/>
          <p:cNvSpPr/>
          <p:nvPr/>
        </p:nvSpPr>
        <p:spPr>
          <a:xfrm>
            <a:off x="6388608" y="3386985"/>
            <a:ext cx="5437632" cy="355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Summary Generation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388608" y="3668863"/>
            <a:ext cx="5437632" cy="286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key_clinical_notes · risk_flags · findings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242304" y="4217685"/>
            <a:ext cx="5730240" cy="682752"/>
          </a:xfrm>
          <a:prstGeom prst="roundRect">
            <a:avLst>
              <a:gd name="adj" fmla="val 14286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38" name="Text 36"/>
          <p:cNvSpPr/>
          <p:nvPr/>
        </p:nvSpPr>
        <p:spPr>
          <a:xfrm>
            <a:off x="6388608" y="4290838"/>
            <a:ext cx="5437632" cy="355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JSON Output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388608" y="4572716"/>
            <a:ext cx="5437632" cy="286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[CRITICAL]/[URGENT] · rag_reference cites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219456" y="4998720"/>
            <a:ext cx="11753088" cy="1706880"/>
          </a:xfrm>
          <a:prstGeom prst="roundRect">
            <a:avLst>
              <a:gd name="adj" fmla="val 4286"/>
            </a:avLst>
          </a:prstGeom>
          <a:solidFill>
            <a:srgbClr val="FAFAFA"/>
          </a:solidFill>
          <a:ln w="19050">
            <a:solidFill>
              <a:srgbClr val="F59E0B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41" name="Shape 39"/>
          <p:cNvSpPr/>
          <p:nvPr/>
        </p:nvSpPr>
        <p:spPr>
          <a:xfrm>
            <a:off x="365760" y="5084064"/>
            <a:ext cx="2194560" cy="316992"/>
          </a:xfrm>
          <a:prstGeom prst="roundRect">
            <a:avLst>
              <a:gd name="adj" fmla="val 11538"/>
            </a:avLst>
          </a:prstGeom>
          <a:solidFill>
            <a:srgbClr val="FFF8E1"/>
          </a:solidFill>
          <a:ln w="12700">
            <a:solidFill>
              <a:srgbClr val="FFF8E1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2" name="Text 40"/>
          <p:cNvSpPr/>
          <p:nvPr/>
        </p:nvSpPr>
        <p:spPr>
          <a:xfrm>
            <a:off x="402336" y="5108448"/>
            <a:ext cx="20726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b="1" kern="0" spc="267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ROLE (SHARED)</a:t>
            </a:r>
            <a:endParaRPr lang="en-US" sz="1133" dirty="0"/>
          </a:p>
        </p:txBody>
      </p:sp>
      <p:sp>
        <p:nvSpPr>
          <p:cNvPr id="43" name="Shape 41"/>
          <p:cNvSpPr/>
          <p:nvPr/>
        </p:nvSpPr>
        <p:spPr>
          <a:xfrm>
            <a:off x="341376" y="5462016"/>
            <a:ext cx="11509248" cy="0"/>
          </a:xfrm>
          <a:prstGeom prst="line">
            <a:avLst/>
          </a:prstGeom>
          <a:noFill/>
          <a:ln w="6350">
            <a:solidFill>
              <a:srgbClr val="F59E0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4" name="Text 42"/>
          <p:cNvSpPr/>
          <p:nvPr/>
        </p:nvSpPr>
        <p:spPr>
          <a:xfrm>
            <a:off x="402336" y="5522976"/>
            <a:ext cx="11387328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rag_search grounded on Harrison's / Davidson's / MedlinePlus for clinical significance of abnormal findings</a:t>
            </a:r>
            <a:endParaRPr lang="en-US" sz="1600" b="1" dirty="0"/>
          </a:p>
          <a:p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rag_reference field in risk_flags cites book + chapter — full literature provenance per risk flag</a:t>
            </a:r>
            <a:endParaRPr lang="en-US" sz="1600" b="1" dirty="0"/>
          </a:p>
          <a:p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Agents must call tools before generating output — prevents fabrication of lab values or diagnoses</a:t>
            </a:r>
            <a:endParaRPr lang="en-US" sz="1600" b="1" dirty="0"/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89E54670-6337-6E58-D1E7-9D905C8B9F37}"/>
              </a:ext>
            </a:extLst>
          </p:cNvPr>
          <p:cNvCxnSpPr>
            <a:stCxn id="10" idx="2"/>
            <a:endCxn id="14" idx="0"/>
          </p:cNvCxnSpPr>
          <p:nvPr/>
        </p:nvCxnSpPr>
        <p:spPr>
          <a:xfrm>
            <a:off x="3084576" y="2194560"/>
            <a:ext cx="1" cy="2194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30DBA6EA-7577-CDF4-6A56-63B902D99BAE}"/>
              </a:ext>
            </a:extLst>
          </p:cNvPr>
          <p:cNvCxnSpPr>
            <a:stCxn id="14" idx="2"/>
            <a:endCxn id="18" idx="0"/>
          </p:cNvCxnSpPr>
          <p:nvPr/>
        </p:nvCxnSpPr>
        <p:spPr>
          <a:xfrm flipH="1">
            <a:off x="3084576" y="3096769"/>
            <a:ext cx="1" cy="2190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2DDEADD-E7A0-DD53-8B0F-7314FDEE7F02}"/>
              </a:ext>
            </a:extLst>
          </p:cNvPr>
          <p:cNvCxnSpPr>
            <a:stCxn id="18" idx="2"/>
            <a:endCxn id="22" idx="0"/>
          </p:cNvCxnSpPr>
          <p:nvPr/>
        </p:nvCxnSpPr>
        <p:spPr>
          <a:xfrm>
            <a:off x="3084576" y="3998603"/>
            <a:ext cx="0" cy="2190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229C4D5E-B477-7606-24EE-85D66F0C2236}"/>
              </a:ext>
            </a:extLst>
          </p:cNvPr>
          <p:cNvCxnSpPr>
            <a:stCxn id="25" idx="2"/>
            <a:endCxn id="29" idx="0"/>
          </p:cNvCxnSpPr>
          <p:nvPr/>
        </p:nvCxnSpPr>
        <p:spPr>
          <a:xfrm>
            <a:off x="9107424" y="2194560"/>
            <a:ext cx="0" cy="2194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E94D6F4B-03A2-84DA-918B-DA34F5FF2EF4}"/>
              </a:ext>
            </a:extLst>
          </p:cNvPr>
          <p:cNvCxnSpPr>
            <a:stCxn id="29" idx="2"/>
            <a:endCxn id="33" idx="0"/>
          </p:cNvCxnSpPr>
          <p:nvPr/>
        </p:nvCxnSpPr>
        <p:spPr>
          <a:xfrm>
            <a:off x="9107424" y="3096769"/>
            <a:ext cx="0" cy="2170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88198A9A-404F-32BC-08D8-95FF89A7966E}"/>
              </a:ext>
            </a:extLst>
          </p:cNvPr>
          <p:cNvCxnSpPr>
            <a:stCxn id="33" idx="2"/>
            <a:endCxn id="37" idx="0"/>
          </p:cNvCxnSpPr>
          <p:nvPr/>
        </p:nvCxnSpPr>
        <p:spPr>
          <a:xfrm>
            <a:off x="9107424" y="3996584"/>
            <a:ext cx="0" cy="2211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7782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19456" cy="87782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341376" y="121920"/>
            <a:ext cx="20726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4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09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41376" y="438912"/>
            <a:ext cx="1158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FINDER</a:t>
            </a:r>
            <a:endParaRPr lang="en-US" sz="2667" dirty="0"/>
          </a:p>
        </p:txBody>
      </p:sp>
      <p:sp>
        <p:nvSpPr>
          <p:cNvPr id="6" name="Shape 4"/>
          <p:cNvSpPr/>
          <p:nvPr/>
        </p:nvSpPr>
        <p:spPr>
          <a:xfrm>
            <a:off x="268224" y="1024128"/>
            <a:ext cx="3657600" cy="707136"/>
          </a:xfrm>
          <a:prstGeom prst="roundRect">
            <a:avLst>
              <a:gd name="adj" fmla="val 1379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414528" y="1097281"/>
            <a:ext cx="3364992" cy="36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Enters Condition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4528" y="1391839"/>
            <a:ext cx="3364992" cy="296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 or English — free text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68224" y="1962912"/>
            <a:ext cx="3657600" cy="707136"/>
          </a:xfrm>
          <a:prstGeom prst="roundRect">
            <a:avLst>
              <a:gd name="adj" fmla="val 13793"/>
            </a:avLst>
          </a:prstGeom>
          <a:solidFill>
            <a:srgbClr val="2D3748"/>
          </a:solidFill>
          <a:ln w="12700">
            <a:solidFill>
              <a:srgbClr val="3D4A5C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/>
          <p:nvPr/>
        </p:nvSpPr>
        <p:spPr>
          <a:xfrm>
            <a:off x="414528" y="2036065"/>
            <a:ext cx="3364992" cy="36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Specialty Inference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14528" y="2330623"/>
            <a:ext cx="3364992" cy="296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GPT-4o-mini: condition → specialist keyword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68224" y="2901696"/>
            <a:ext cx="3657600" cy="707136"/>
          </a:xfrm>
          <a:prstGeom prst="roundRect">
            <a:avLst>
              <a:gd name="adj" fmla="val 1379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5" name="Text 13"/>
          <p:cNvSpPr/>
          <p:nvPr/>
        </p:nvSpPr>
        <p:spPr>
          <a:xfrm>
            <a:off x="414528" y="2974849"/>
            <a:ext cx="3364992" cy="36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/ Address Input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14528" y="3269407"/>
            <a:ext cx="3364992" cy="296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Geolocation or typed address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68224" y="3840480"/>
            <a:ext cx="3657600" cy="707136"/>
          </a:xfrm>
          <a:prstGeom prst="roundRect">
            <a:avLst>
              <a:gd name="adj" fmla="val 13793"/>
            </a:avLst>
          </a:prstGeom>
          <a:solidFill>
            <a:srgbClr val="2D3748"/>
          </a:solidFill>
          <a:ln w="12700">
            <a:solidFill>
              <a:srgbClr val="3D4A5C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9" name="Text 17"/>
          <p:cNvSpPr/>
          <p:nvPr/>
        </p:nvSpPr>
        <p:spPr>
          <a:xfrm>
            <a:off x="414528" y="3913633"/>
            <a:ext cx="3364992" cy="36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Geocoding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14528" y="4208191"/>
            <a:ext cx="3364992" cy="296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Geocoding API → lat/lng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68224" y="4779264"/>
            <a:ext cx="3657600" cy="707136"/>
          </a:xfrm>
          <a:prstGeom prst="roundRect">
            <a:avLst>
              <a:gd name="adj" fmla="val 1379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3" name="Text 21"/>
          <p:cNvSpPr/>
          <p:nvPr/>
        </p:nvSpPr>
        <p:spPr>
          <a:xfrm>
            <a:off x="414528" y="4852417"/>
            <a:ext cx="3364992" cy="36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Nearby Doctor Search Using Google API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14528" y="5146975"/>
            <a:ext cx="3364992" cy="296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Places API · 5km radius · hospital/doctor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68224" y="5711952"/>
            <a:ext cx="3657600" cy="707136"/>
          </a:xfrm>
          <a:prstGeom prst="roundRect">
            <a:avLst>
              <a:gd name="adj" fmla="val 13793"/>
            </a:avLst>
          </a:prstGeom>
          <a:solidFill>
            <a:srgbClr val="2D3748"/>
          </a:solidFill>
          <a:ln w="12700">
            <a:solidFill>
              <a:srgbClr val="3D4A5C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7" name="Text 25"/>
          <p:cNvSpPr/>
          <p:nvPr/>
        </p:nvSpPr>
        <p:spPr>
          <a:xfrm>
            <a:off x="414528" y="5785105"/>
            <a:ext cx="3364992" cy="36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Location Render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14528" y="6079663"/>
            <a:ext cx="3364992" cy="296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· distance · rating · phone · Maps link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328160" y="1024128"/>
            <a:ext cx="7559040" cy="146304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19050">
            <a:solidFill>
              <a:srgbClr val="DC2626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30" name="Shape 28"/>
          <p:cNvSpPr/>
          <p:nvPr/>
        </p:nvSpPr>
        <p:spPr>
          <a:xfrm>
            <a:off x="4474464" y="1109472"/>
            <a:ext cx="2194560" cy="316992"/>
          </a:xfrm>
          <a:prstGeom prst="roundRect">
            <a:avLst>
              <a:gd name="adj" fmla="val 11538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1" name="Text 29"/>
          <p:cNvSpPr/>
          <p:nvPr/>
        </p:nvSpPr>
        <p:spPr>
          <a:xfrm>
            <a:off x="4511040" y="1133856"/>
            <a:ext cx="20726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b="1" kern="0" spc="267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133" dirty="0"/>
          </a:p>
        </p:txBody>
      </p:sp>
      <p:sp>
        <p:nvSpPr>
          <p:cNvPr id="32" name="Shape 30"/>
          <p:cNvSpPr/>
          <p:nvPr/>
        </p:nvSpPr>
        <p:spPr>
          <a:xfrm>
            <a:off x="4450080" y="1487424"/>
            <a:ext cx="7315200" cy="0"/>
          </a:xfrm>
          <a:prstGeom prst="line">
            <a:avLst/>
          </a:prstGeom>
          <a:noFill/>
          <a:ln w="6350">
            <a:solidFill>
              <a:srgbClr val="DC262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3" name="Text 31"/>
          <p:cNvSpPr/>
          <p:nvPr/>
        </p:nvSpPr>
        <p:spPr>
          <a:xfrm>
            <a:off x="4511040" y="1548384"/>
            <a:ext cx="719328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Google Places Nearby Search API (hospitals, clinics, specialist doctors)</a:t>
            </a:r>
            <a:endParaRPr lang="en-US" sz="1600" b="1" dirty="0"/>
          </a:p>
          <a:p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Google Places Details API (phone numbers per place)</a:t>
            </a:r>
            <a:endParaRPr lang="en-US" sz="1600" b="1" dirty="0"/>
          </a:p>
          <a:p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Google Geocoding API (address → lat/lng) · Browser Geolocation API (native GPS)</a:t>
            </a:r>
            <a:endParaRPr lang="en-US" sz="1600" b="1" dirty="0"/>
          </a:p>
        </p:txBody>
      </p:sp>
      <p:sp>
        <p:nvSpPr>
          <p:cNvPr id="34" name="Shape 32"/>
          <p:cNvSpPr/>
          <p:nvPr/>
        </p:nvSpPr>
        <p:spPr>
          <a:xfrm>
            <a:off x="4328160" y="2584704"/>
            <a:ext cx="7559040" cy="1731264"/>
          </a:xfrm>
          <a:prstGeom prst="roundRect">
            <a:avLst>
              <a:gd name="adj" fmla="val 4225"/>
            </a:avLst>
          </a:prstGeom>
          <a:solidFill>
            <a:srgbClr val="FAFAFA"/>
          </a:solidFill>
          <a:ln w="19050">
            <a:solidFill>
              <a:srgbClr val="9C27B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35" name="Shape 33"/>
          <p:cNvSpPr/>
          <p:nvPr/>
        </p:nvSpPr>
        <p:spPr>
          <a:xfrm>
            <a:off x="4474464" y="2670048"/>
            <a:ext cx="2194560" cy="316992"/>
          </a:xfrm>
          <a:prstGeom prst="roundRect">
            <a:avLst>
              <a:gd name="adj" fmla="val 11538"/>
            </a:avLst>
          </a:prstGeom>
          <a:solidFill>
            <a:srgbClr val="F3E5F5"/>
          </a:solidFill>
          <a:ln w="12700">
            <a:solidFill>
              <a:srgbClr val="F3E5F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6" name="Text 34"/>
          <p:cNvSpPr/>
          <p:nvPr/>
        </p:nvSpPr>
        <p:spPr>
          <a:xfrm>
            <a:off x="4511040" y="2694432"/>
            <a:ext cx="20726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b="1" kern="0" spc="267" dirty="0">
                <a:solidFill>
                  <a:srgbClr val="9C2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ROLE</a:t>
            </a:r>
            <a:endParaRPr lang="en-US" sz="1133" dirty="0"/>
          </a:p>
        </p:txBody>
      </p:sp>
      <p:sp>
        <p:nvSpPr>
          <p:cNvPr id="37" name="Shape 35"/>
          <p:cNvSpPr/>
          <p:nvPr/>
        </p:nvSpPr>
        <p:spPr>
          <a:xfrm>
            <a:off x="4450080" y="3048000"/>
            <a:ext cx="7315200" cy="0"/>
          </a:xfrm>
          <a:prstGeom prst="line">
            <a:avLst/>
          </a:prstGeom>
          <a:noFill/>
          <a:ln w="6350">
            <a:solidFill>
              <a:srgbClr val="9C27B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8" name="Text 36"/>
          <p:cNvSpPr/>
          <p:nvPr/>
        </p:nvSpPr>
        <p:spPr>
          <a:xfrm>
            <a:off x="4511040" y="3108960"/>
            <a:ext cx="719328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OpenAI GPT-4o-mini (inferSpecialty): maps any Bangla or English symptom to correct specialist keyword</a:t>
            </a:r>
            <a:endParaRPr lang="en-US" sz="1600" b="1" dirty="0"/>
          </a:p>
          <a:p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Examples: 'পেট ব্যথা' → gastroenterologist · chest pain → emergency hospital</a:t>
            </a:r>
            <a:endParaRPr lang="en-US" sz="1600" b="1" dirty="0"/>
          </a:p>
          <a:p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Haversine distance calculation sorts results by proximity</a:t>
            </a:r>
            <a:endParaRPr lang="en-US" sz="1600" b="1" dirty="0"/>
          </a:p>
        </p:txBody>
      </p:sp>
      <p:sp>
        <p:nvSpPr>
          <p:cNvPr id="39" name="Shape 37"/>
          <p:cNvSpPr/>
          <p:nvPr/>
        </p:nvSpPr>
        <p:spPr>
          <a:xfrm>
            <a:off x="4328160" y="4413504"/>
            <a:ext cx="7559040" cy="1828676"/>
          </a:xfrm>
          <a:prstGeom prst="roundRect">
            <a:avLst>
              <a:gd name="adj" fmla="val 3297"/>
            </a:avLst>
          </a:prstGeom>
          <a:solidFill>
            <a:srgbClr val="FAFAFA"/>
          </a:solidFill>
          <a:ln w="19050">
            <a:solidFill>
              <a:srgbClr val="F59E0B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40" name="Shape 38"/>
          <p:cNvSpPr/>
          <p:nvPr/>
        </p:nvSpPr>
        <p:spPr>
          <a:xfrm>
            <a:off x="4474464" y="4498848"/>
            <a:ext cx="2194560" cy="316992"/>
          </a:xfrm>
          <a:prstGeom prst="roundRect">
            <a:avLst>
              <a:gd name="adj" fmla="val 11538"/>
            </a:avLst>
          </a:prstGeom>
          <a:solidFill>
            <a:srgbClr val="FFF8E1"/>
          </a:solidFill>
          <a:ln w="12700">
            <a:solidFill>
              <a:srgbClr val="FFF8E1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1" name="Text 39"/>
          <p:cNvSpPr/>
          <p:nvPr/>
        </p:nvSpPr>
        <p:spPr>
          <a:xfrm>
            <a:off x="4511040" y="4523232"/>
            <a:ext cx="20726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b="1" kern="0" spc="267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ROLE</a:t>
            </a:r>
            <a:endParaRPr lang="en-US" sz="1133" dirty="0"/>
          </a:p>
        </p:txBody>
      </p:sp>
      <p:sp>
        <p:nvSpPr>
          <p:cNvPr id="42" name="Shape 40"/>
          <p:cNvSpPr/>
          <p:nvPr/>
        </p:nvSpPr>
        <p:spPr>
          <a:xfrm>
            <a:off x="4450080" y="4876800"/>
            <a:ext cx="7315200" cy="0"/>
          </a:xfrm>
          <a:prstGeom prst="line">
            <a:avLst/>
          </a:prstGeom>
          <a:noFill/>
          <a:ln w="6350">
            <a:solidFill>
              <a:srgbClr val="F59E0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3" name="Text 41"/>
          <p:cNvSpPr/>
          <p:nvPr/>
        </p:nvSpPr>
        <p:spPr>
          <a:xfrm>
            <a:off x="4511040" y="4937760"/>
            <a:ext cx="7193280" cy="1548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No pgvector/RAG — real-time geolocation lookup via Google Places APIs</a:t>
            </a:r>
            <a:endParaRPr lang="en-US" sz="1600" b="1" dirty="0"/>
          </a:p>
          <a:p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Emergency detection built-in: life-threatening symptoms route to emergency hospital search</a:t>
            </a:r>
            <a:endParaRPr lang="en-US" sz="1600" b="1" dirty="0"/>
          </a:p>
          <a:p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Phone enrichment via Places Details API ensures actionable contact info per result</a:t>
            </a:r>
            <a:endParaRPr lang="en-US" sz="1600" b="1" dirty="0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0400CDB9-96E9-CAAA-2A68-6D26B3C81BA2}"/>
              </a:ext>
            </a:extLst>
          </p:cNvPr>
          <p:cNvCxnSpPr>
            <a:stCxn id="6" idx="2"/>
            <a:endCxn id="10" idx="0"/>
          </p:cNvCxnSpPr>
          <p:nvPr/>
        </p:nvCxnSpPr>
        <p:spPr>
          <a:xfrm>
            <a:off x="2097024" y="1731264"/>
            <a:ext cx="0" cy="2316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FB06339F-26F8-0952-0E8A-5696B2F5FD1C}"/>
              </a:ext>
            </a:extLst>
          </p:cNvPr>
          <p:cNvCxnSpPr>
            <a:stCxn id="10" idx="2"/>
            <a:endCxn id="14" idx="0"/>
          </p:cNvCxnSpPr>
          <p:nvPr/>
        </p:nvCxnSpPr>
        <p:spPr>
          <a:xfrm>
            <a:off x="2097024" y="2670048"/>
            <a:ext cx="0" cy="2316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BAF0AC77-3E05-9525-A4A9-D92C28C4038A}"/>
              </a:ext>
            </a:extLst>
          </p:cNvPr>
          <p:cNvCxnSpPr>
            <a:stCxn id="14" idx="2"/>
            <a:endCxn id="18" idx="0"/>
          </p:cNvCxnSpPr>
          <p:nvPr/>
        </p:nvCxnSpPr>
        <p:spPr>
          <a:xfrm>
            <a:off x="2097024" y="3608832"/>
            <a:ext cx="0" cy="2316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6A182887-277B-9EEB-9847-BCED425DB2BA}"/>
              </a:ext>
            </a:extLst>
          </p:cNvPr>
          <p:cNvCxnSpPr>
            <a:stCxn id="18" idx="2"/>
            <a:endCxn id="22" idx="0"/>
          </p:cNvCxnSpPr>
          <p:nvPr/>
        </p:nvCxnSpPr>
        <p:spPr>
          <a:xfrm>
            <a:off x="2097024" y="4547616"/>
            <a:ext cx="0" cy="2316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811B3D84-E2EF-4FBE-E7CC-79A460044682}"/>
              </a:ext>
            </a:extLst>
          </p:cNvPr>
          <p:cNvCxnSpPr>
            <a:stCxn id="22" idx="2"/>
            <a:endCxn id="26" idx="0"/>
          </p:cNvCxnSpPr>
          <p:nvPr/>
        </p:nvCxnSpPr>
        <p:spPr>
          <a:xfrm>
            <a:off x="2097024" y="5486400"/>
            <a:ext cx="0" cy="2255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7782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19456" cy="87782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341376" y="121920"/>
            <a:ext cx="20726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41376" y="438912"/>
            <a:ext cx="1158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APPOINTMENT MANAGER</a:t>
            </a:r>
            <a:endParaRPr lang="en-US" sz="2667" dirty="0"/>
          </a:p>
        </p:txBody>
      </p:sp>
      <p:sp>
        <p:nvSpPr>
          <p:cNvPr id="6" name="Shape 4"/>
          <p:cNvSpPr/>
          <p:nvPr/>
        </p:nvSpPr>
        <p:spPr>
          <a:xfrm>
            <a:off x="268224" y="1024128"/>
            <a:ext cx="3657600" cy="707136"/>
          </a:xfrm>
          <a:prstGeom prst="roundRect">
            <a:avLst>
              <a:gd name="adj" fmla="val 13793"/>
            </a:avLst>
          </a:prstGeom>
          <a:solidFill>
            <a:srgbClr val="E8F5E9"/>
          </a:solidFill>
          <a:ln w="12700">
            <a:solidFill>
              <a:srgbClr val="10B981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414528" y="1097281"/>
            <a:ext cx="3364992" cy="36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Browses Doctors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4528" y="1391839"/>
            <a:ext cx="3364992" cy="296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Specialty filter + availability view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68224" y="1964778"/>
            <a:ext cx="3657600" cy="707136"/>
          </a:xfrm>
          <a:prstGeom prst="roundRect">
            <a:avLst>
              <a:gd name="adj" fmla="val 13793"/>
            </a:avLst>
          </a:prstGeom>
          <a:solidFill>
            <a:srgbClr val="2D3748"/>
          </a:solidFill>
          <a:ln w="12700">
            <a:solidFill>
              <a:srgbClr val="3D4A5C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/>
          <p:nvPr/>
        </p:nvSpPr>
        <p:spPr>
          <a:xfrm>
            <a:off x="414528" y="2037931"/>
            <a:ext cx="3364992" cy="36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Check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14528" y="2332489"/>
            <a:ext cx="3364992" cy="296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 err="1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doctor_availability</a:t>
            </a:r>
            <a:r>
              <a:rPr lang="en-US" sz="14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table, daily_patient_limit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68224" y="2905428"/>
            <a:ext cx="3657600" cy="707136"/>
          </a:xfrm>
          <a:prstGeom prst="roundRect">
            <a:avLst>
              <a:gd name="adj" fmla="val 13793"/>
            </a:avLst>
          </a:prstGeom>
          <a:solidFill>
            <a:srgbClr val="E8F5E9"/>
          </a:solidFill>
          <a:ln w="12700">
            <a:solidFill>
              <a:srgbClr val="10B981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5" name="Text 13"/>
          <p:cNvSpPr/>
          <p:nvPr/>
        </p:nvSpPr>
        <p:spPr>
          <a:xfrm>
            <a:off x="414528" y="2978581"/>
            <a:ext cx="3364992" cy="36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Check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14528" y="3273139"/>
            <a:ext cx="3364992" cy="296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patient can't book same doctor same date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68224" y="3845017"/>
            <a:ext cx="3657600" cy="707136"/>
          </a:xfrm>
          <a:prstGeom prst="roundRect">
            <a:avLst>
              <a:gd name="adj" fmla="val 13793"/>
            </a:avLst>
          </a:prstGeom>
          <a:solidFill>
            <a:srgbClr val="2D3748"/>
          </a:solidFill>
          <a:ln w="12700">
            <a:solidFill>
              <a:srgbClr val="3D4A5C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9" name="Text 17"/>
          <p:cNvSpPr/>
          <p:nvPr/>
        </p:nvSpPr>
        <p:spPr>
          <a:xfrm>
            <a:off x="414528" y="3918170"/>
            <a:ext cx="3364992" cy="36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Count + Row Lock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14528" y="4212728"/>
            <a:ext cx="3364992" cy="296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UPDATE lock — PostgreSQL transaction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68224" y="4784606"/>
            <a:ext cx="3657600" cy="707136"/>
          </a:xfrm>
          <a:prstGeom prst="roundRect">
            <a:avLst>
              <a:gd name="adj" fmla="val 13793"/>
            </a:avLst>
          </a:prstGeom>
          <a:solidFill>
            <a:srgbClr val="E8F5E9"/>
          </a:solidFill>
          <a:ln w="12700">
            <a:solidFill>
              <a:srgbClr val="10B981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3" name="Text 21"/>
          <p:cNvSpPr/>
          <p:nvPr/>
        </p:nvSpPr>
        <p:spPr>
          <a:xfrm>
            <a:off x="414528" y="4857759"/>
            <a:ext cx="3364992" cy="36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Created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14528" y="5152317"/>
            <a:ext cx="3364992" cy="296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'booked' → appointment table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68224" y="5724195"/>
            <a:ext cx="3657600" cy="707136"/>
          </a:xfrm>
          <a:prstGeom prst="roundRect">
            <a:avLst>
              <a:gd name="adj" fmla="val 13793"/>
            </a:avLst>
          </a:prstGeom>
          <a:solidFill>
            <a:srgbClr val="2D3748"/>
          </a:solidFill>
          <a:ln w="12700">
            <a:solidFill>
              <a:srgbClr val="3D4A5C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7" name="Text 25"/>
          <p:cNvSpPr/>
          <p:nvPr/>
        </p:nvSpPr>
        <p:spPr>
          <a:xfrm>
            <a:off x="414528" y="5797348"/>
            <a:ext cx="3364992" cy="36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Broadcast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14528" y="6091906"/>
            <a:ext cx="3364992" cy="296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update to doctor's dashboard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328160" y="1024128"/>
            <a:ext cx="7559040" cy="1341120"/>
          </a:xfrm>
          <a:prstGeom prst="roundRect">
            <a:avLst>
              <a:gd name="adj" fmla="val 5455"/>
            </a:avLst>
          </a:prstGeom>
          <a:solidFill>
            <a:srgbClr val="FAFAFA"/>
          </a:solidFill>
          <a:ln w="19050">
            <a:solidFill>
              <a:srgbClr val="00BCD4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30" name="Shape 28"/>
          <p:cNvSpPr/>
          <p:nvPr/>
        </p:nvSpPr>
        <p:spPr>
          <a:xfrm>
            <a:off x="4474464" y="1109472"/>
            <a:ext cx="2194560" cy="316992"/>
          </a:xfrm>
          <a:prstGeom prst="roundRect">
            <a:avLst>
              <a:gd name="adj" fmla="val 11538"/>
            </a:avLst>
          </a:prstGeom>
          <a:solidFill>
            <a:srgbClr val="E0F7FA"/>
          </a:solidFill>
          <a:ln w="12700">
            <a:solidFill>
              <a:srgbClr val="E0F7F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1" name="Text 29"/>
          <p:cNvSpPr/>
          <p:nvPr/>
        </p:nvSpPr>
        <p:spPr>
          <a:xfrm>
            <a:off x="4511040" y="1133856"/>
            <a:ext cx="20726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b="1" kern="0" spc="267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133" dirty="0"/>
          </a:p>
        </p:txBody>
      </p:sp>
      <p:sp>
        <p:nvSpPr>
          <p:cNvPr id="32" name="Shape 30"/>
          <p:cNvSpPr/>
          <p:nvPr/>
        </p:nvSpPr>
        <p:spPr>
          <a:xfrm>
            <a:off x="4450080" y="1487424"/>
            <a:ext cx="7315200" cy="0"/>
          </a:xfrm>
          <a:prstGeom prst="line">
            <a:avLst/>
          </a:prstGeom>
          <a:noFill/>
          <a:ln w="6350">
            <a:solidFill>
              <a:srgbClr val="00BC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3" name="Text 31"/>
          <p:cNvSpPr/>
          <p:nvPr/>
        </p:nvSpPr>
        <p:spPr>
          <a:xfrm>
            <a:off x="4511040" y="1548384"/>
            <a:ext cx="71932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doctor table: profile, specialty, license number, daily_patient_limit</a:t>
            </a:r>
            <a:endParaRPr lang="en-US" sz="1600" b="1" dirty="0"/>
          </a:p>
          <a:p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doctor_availability table: per-date overrides and custom daily limits</a:t>
            </a:r>
            <a:endParaRPr lang="en-US" sz="1600" b="1" dirty="0"/>
          </a:p>
          <a:p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appointment table: patient bookings with full status lifecycle</a:t>
            </a:r>
            <a:endParaRPr lang="en-US" sz="1600" b="1" dirty="0"/>
          </a:p>
        </p:txBody>
      </p:sp>
      <p:sp>
        <p:nvSpPr>
          <p:cNvPr id="34" name="Shape 32"/>
          <p:cNvSpPr/>
          <p:nvPr/>
        </p:nvSpPr>
        <p:spPr>
          <a:xfrm>
            <a:off x="4328160" y="2462784"/>
            <a:ext cx="7559040" cy="2123360"/>
          </a:xfrm>
          <a:prstGeom prst="roundRect">
            <a:avLst>
              <a:gd name="adj" fmla="val 3947"/>
            </a:avLst>
          </a:prstGeom>
          <a:solidFill>
            <a:srgbClr val="FAFAFA"/>
          </a:solidFill>
          <a:ln w="19050">
            <a:solidFill>
              <a:srgbClr val="9C27B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35" name="Shape 33"/>
          <p:cNvSpPr/>
          <p:nvPr/>
        </p:nvSpPr>
        <p:spPr>
          <a:xfrm>
            <a:off x="4474464" y="2548128"/>
            <a:ext cx="2194560" cy="316992"/>
          </a:xfrm>
          <a:prstGeom prst="roundRect">
            <a:avLst>
              <a:gd name="adj" fmla="val 11538"/>
            </a:avLst>
          </a:prstGeom>
          <a:solidFill>
            <a:srgbClr val="F3E5F5"/>
          </a:solidFill>
          <a:ln w="12700">
            <a:solidFill>
              <a:srgbClr val="F3E5F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6" name="Text 34"/>
          <p:cNvSpPr/>
          <p:nvPr/>
        </p:nvSpPr>
        <p:spPr>
          <a:xfrm>
            <a:off x="4511040" y="2572512"/>
            <a:ext cx="20726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b="1" kern="0" spc="267" dirty="0">
                <a:solidFill>
                  <a:srgbClr val="9C2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ROLE</a:t>
            </a:r>
            <a:endParaRPr lang="en-US" sz="1133" dirty="0"/>
          </a:p>
        </p:txBody>
      </p:sp>
      <p:sp>
        <p:nvSpPr>
          <p:cNvPr id="37" name="Shape 35"/>
          <p:cNvSpPr/>
          <p:nvPr/>
        </p:nvSpPr>
        <p:spPr>
          <a:xfrm>
            <a:off x="4450080" y="2926080"/>
            <a:ext cx="7315200" cy="0"/>
          </a:xfrm>
          <a:prstGeom prst="line">
            <a:avLst/>
          </a:prstGeom>
          <a:noFill/>
          <a:ln w="6350">
            <a:solidFill>
              <a:srgbClr val="9C27B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8" name="Text 36"/>
          <p:cNvSpPr/>
          <p:nvPr/>
        </p:nvSpPr>
        <p:spPr>
          <a:xfrm>
            <a:off x="4511040" y="2987040"/>
            <a:ext cx="7193280" cy="1182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No LLM in core booking flow — pure rule-based logic with PostgreSQL transaction constraints</a:t>
            </a:r>
            <a:endParaRPr lang="en-US" sz="1600" b="1" dirty="0"/>
          </a:p>
          <a:p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Socket.IO delivers real-time status updates: booked → in_progress → completed / late / cancelled</a:t>
            </a:r>
            <a:endParaRPr lang="en-US" sz="1600" b="1" dirty="0"/>
          </a:p>
          <a:p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Notification service fires on every status change, keeping patient and doctor in sync</a:t>
            </a:r>
            <a:endParaRPr lang="en-US" sz="1600" b="1" dirty="0"/>
          </a:p>
        </p:txBody>
      </p:sp>
      <p:sp>
        <p:nvSpPr>
          <p:cNvPr id="39" name="Shape 37"/>
          <p:cNvSpPr/>
          <p:nvPr/>
        </p:nvSpPr>
        <p:spPr>
          <a:xfrm>
            <a:off x="4328160" y="4809988"/>
            <a:ext cx="7559040" cy="1822460"/>
          </a:xfrm>
          <a:prstGeom prst="roundRect">
            <a:avLst>
              <a:gd name="adj" fmla="val 3297"/>
            </a:avLst>
          </a:prstGeom>
          <a:solidFill>
            <a:srgbClr val="FAFAFA"/>
          </a:solidFill>
          <a:ln w="19050">
            <a:solidFill>
              <a:srgbClr val="F59E0B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40" name="Shape 38"/>
          <p:cNvSpPr/>
          <p:nvPr/>
        </p:nvSpPr>
        <p:spPr>
          <a:xfrm>
            <a:off x="4474464" y="4974709"/>
            <a:ext cx="2194560" cy="316992"/>
          </a:xfrm>
          <a:prstGeom prst="roundRect">
            <a:avLst>
              <a:gd name="adj" fmla="val 11538"/>
            </a:avLst>
          </a:prstGeom>
          <a:solidFill>
            <a:srgbClr val="FFF8E1"/>
          </a:solidFill>
          <a:ln w="12700">
            <a:solidFill>
              <a:srgbClr val="FFF8E1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1" name="Text 39"/>
          <p:cNvSpPr/>
          <p:nvPr/>
        </p:nvSpPr>
        <p:spPr>
          <a:xfrm>
            <a:off x="4511040" y="4999093"/>
            <a:ext cx="20726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b="1" kern="0" spc="267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ROLE</a:t>
            </a:r>
            <a:endParaRPr lang="en-US" sz="1133" dirty="0"/>
          </a:p>
        </p:txBody>
      </p:sp>
      <p:sp>
        <p:nvSpPr>
          <p:cNvPr id="42" name="Shape 40"/>
          <p:cNvSpPr/>
          <p:nvPr/>
        </p:nvSpPr>
        <p:spPr>
          <a:xfrm>
            <a:off x="4450080" y="5352661"/>
            <a:ext cx="7315200" cy="0"/>
          </a:xfrm>
          <a:prstGeom prst="line">
            <a:avLst/>
          </a:prstGeom>
          <a:noFill/>
          <a:ln w="6350">
            <a:solidFill>
              <a:srgbClr val="F59E0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3" name="Text 41"/>
          <p:cNvSpPr/>
          <p:nvPr/>
        </p:nvSpPr>
        <p:spPr>
          <a:xfrm>
            <a:off x="4511040" y="5366432"/>
            <a:ext cx="7193280" cy="1119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Not applicable — transactional booking with row-level locking for concurrency safety</a:t>
            </a:r>
            <a:endParaRPr lang="en-US" sz="1600" b="1" dirty="0"/>
          </a:p>
          <a:p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GPT-4o-mini used upstream in Module 09 to infer which specialty to search</a:t>
            </a:r>
            <a:endParaRPr lang="en-US" sz="1600" b="1" dirty="0"/>
          </a:p>
          <a:p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Doctor manages full status lifecycle from dashboard with real-time slot visibility</a:t>
            </a:r>
            <a:endParaRPr lang="en-US" sz="1600" b="1" dirty="0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151D2707-7E08-E7C9-26A8-88468BA30030}"/>
              </a:ext>
            </a:extLst>
          </p:cNvPr>
          <p:cNvCxnSpPr>
            <a:stCxn id="6" idx="2"/>
            <a:endCxn id="10" idx="0"/>
          </p:cNvCxnSpPr>
          <p:nvPr/>
        </p:nvCxnSpPr>
        <p:spPr>
          <a:xfrm>
            <a:off x="2097024" y="1731264"/>
            <a:ext cx="0" cy="2335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40AED3E-6F7E-905D-66EF-E891648B96B0}"/>
              </a:ext>
            </a:extLst>
          </p:cNvPr>
          <p:cNvCxnSpPr>
            <a:stCxn id="10" idx="2"/>
            <a:endCxn id="14" idx="0"/>
          </p:cNvCxnSpPr>
          <p:nvPr/>
        </p:nvCxnSpPr>
        <p:spPr>
          <a:xfrm>
            <a:off x="2097024" y="2671914"/>
            <a:ext cx="0" cy="2335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D6736E36-76D2-6300-BD1B-BCE3B964A68C}"/>
              </a:ext>
            </a:extLst>
          </p:cNvPr>
          <p:cNvCxnSpPr>
            <a:stCxn id="14" idx="2"/>
            <a:endCxn id="18" idx="0"/>
          </p:cNvCxnSpPr>
          <p:nvPr/>
        </p:nvCxnSpPr>
        <p:spPr>
          <a:xfrm>
            <a:off x="2097024" y="3612564"/>
            <a:ext cx="0" cy="2324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66EE0271-4BEA-4205-A31A-9CABF31BF191}"/>
              </a:ext>
            </a:extLst>
          </p:cNvPr>
          <p:cNvCxnSpPr>
            <a:stCxn id="18" idx="2"/>
            <a:endCxn id="22" idx="0"/>
          </p:cNvCxnSpPr>
          <p:nvPr/>
        </p:nvCxnSpPr>
        <p:spPr>
          <a:xfrm>
            <a:off x="2097024" y="4552153"/>
            <a:ext cx="0" cy="2324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06C6D303-BE95-0FAC-F06D-0578846FDC20}"/>
              </a:ext>
            </a:extLst>
          </p:cNvPr>
          <p:cNvCxnSpPr>
            <a:stCxn id="22" idx="2"/>
            <a:endCxn id="26" idx="0"/>
          </p:cNvCxnSpPr>
          <p:nvPr/>
        </p:nvCxnSpPr>
        <p:spPr>
          <a:xfrm>
            <a:off x="2097024" y="5491742"/>
            <a:ext cx="0" cy="2324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9056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0" cy="829056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670560" y="0"/>
            <a:ext cx="10972800" cy="829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33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🛡️  Responsible AI — Built-In Safeguards</a:t>
            </a:r>
            <a:endParaRPr kumimoji="0" lang="en-US" sz="21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26720" y="999744"/>
            <a:ext cx="54864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7E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26720" y="999744"/>
            <a:ext cx="97536" cy="21945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6176" y="1146048"/>
            <a:ext cx="67056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🩺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341120" y="1170432"/>
            <a:ext cx="445008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33" b="1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Doctor-in-the-Loop</a:t>
            </a:r>
            <a:endParaRPr kumimoji="0" lang="en-US" sz="17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646176" y="1755648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546E7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 extractions with confidence below 50% are flagged needs_review — never auto-applied to patient profile. Human oversight is mandatory.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339840" y="999744"/>
            <a:ext cx="54864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7E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339840" y="999744"/>
            <a:ext cx="97536" cy="21945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559296" y="1146048"/>
            <a:ext cx="67056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🌍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254240" y="1170432"/>
            <a:ext cx="445008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33" b="1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Bias Mitigation</a:t>
            </a:r>
            <a:endParaRPr kumimoji="0" lang="en-US" sz="17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559296" y="1755648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546E7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Reference ranges dynamically adjusted for age and gender. Grounded in WHO global standards — not a single regional dataset. Population-aware.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26720" y="3474720"/>
            <a:ext cx="54864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7E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26720" y="3474720"/>
            <a:ext cx="97536" cy="2194560"/>
          </a:xfrm>
          <a:prstGeom prst="rect">
            <a:avLst/>
          </a:prstGeom>
          <a:solidFill>
            <a:srgbClr val="9C4DCC"/>
          </a:solidFill>
          <a:ln w="12700">
            <a:solidFill>
              <a:srgbClr val="9C4DCC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46176" y="3621024"/>
            <a:ext cx="67056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🔒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341120" y="3645408"/>
            <a:ext cx="445008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33" b="1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 Minimization &amp; Privacy</a:t>
            </a:r>
            <a:endParaRPr kumimoji="0" lang="en-US" sz="17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6176" y="4230624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546E7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Raw images stored separately from structured data. TLS 1.3 in transit, encrypted at rest. Patient-controlled sharing via cryptographic RXF codes.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339840" y="3474720"/>
            <a:ext cx="54864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7E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339840" y="3474720"/>
            <a:ext cx="97536" cy="219456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559296" y="3621024"/>
            <a:ext cx="67056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🚫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254240" y="3645408"/>
            <a:ext cx="445008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33" b="1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Not a Replacement</a:t>
            </a:r>
            <a:endParaRPr kumimoji="0" lang="en-US" sz="17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559296" y="4230624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546E7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RxSense supplements doctors — never replaces them. Emergencies trigger immediate referral signals (EMERGENCY_CARD) to the frontend UI in real time.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0" y="6278880"/>
            <a:ext cx="12192000" cy="573024"/>
          </a:xfrm>
          <a:prstGeom prst="rect">
            <a:avLst/>
          </a:prstGeom>
          <a:solidFill>
            <a:srgbClr val="00897B">
              <a:alpha val="18000"/>
            </a:srgbClr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243840" y="6278880"/>
            <a:ext cx="2865120" cy="573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✅  Explainable</a:t>
            </a:r>
            <a:endParaRPr kumimoji="0" lang="en-US" sz="13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169920" y="6278880"/>
            <a:ext cx="2865120" cy="573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✅  Privacy-Compliant</a:t>
            </a:r>
            <a:endParaRPr kumimoji="0" lang="en-US" sz="13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096000" y="6278880"/>
            <a:ext cx="2865120" cy="573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✅  Human-Supervised</a:t>
            </a:r>
            <a:endParaRPr kumimoji="0" lang="en-US" sz="13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9022080" y="6278880"/>
            <a:ext cx="2865120" cy="573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✅  WHO-Aligned</a:t>
            </a:r>
            <a:endParaRPr kumimoji="0" lang="en-US" sz="13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77824"/>
          </a:xfrm>
          <a:prstGeom prst="rect">
            <a:avLst/>
          </a:prstGeom>
          <a:solidFill>
            <a:srgbClr val="102040"/>
          </a:solidFill>
          <a:ln w="12700">
            <a:solidFill>
              <a:srgbClr val="102040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87680" y="0"/>
            <a:ext cx="1097280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🚀  Scalability Roadmap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53440" y="3870960"/>
            <a:ext cx="10485120" cy="73152"/>
          </a:xfrm>
          <a:prstGeom prst="rect">
            <a:avLst/>
          </a:prstGeom>
          <a:solidFill>
            <a:srgbClr val="546E7A">
              <a:alpha val="50000"/>
            </a:srgbClr>
          </a:solidFill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706880" y="3602736"/>
            <a:ext cx="548640" cy="548640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1706880" y="36027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3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NOW</a:t>
            </a:r>
            <a:endParaRPr kumimoji="0" lang="en-US" sz="9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09600" y="1859280"/>
            <a:ext cx="3535680" cy="1645920"/>
          </a:xfrm>
          <a:prstGeom prst="rect">
            <a:avLst/>
          </a:prstGeom>
          <a:solidFill>
            <a:srgbClr val="00BCD4">
              <a:alpha val="10000"/>
            </a:srgbClr>
          </a:solidFill>
          <a:ln w="19050">
            <a:solidFill>
              <a:srgbClr val="00BCD4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1895856"/>
            <a:ext cx="329184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BCD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NOW — Production Live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731520" y="2346960"/>
            <a:ext cx="33528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33" b="0" i="0" u="none" strike="noStrike" kern="1200" cap="none" spc="0" normalizeH="0" baseline="0" noProof="0" dirty="0">
                <a:ln>
                  <a:noFill/>
                </a:ln>
                <a:solidFill>
                  <a:srgbClr val="E8F4F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 Industry-grade Express deployment in auto-scaling containers</a:t>
            </a:r>
            <a:endParaRPr kumimoji="0" lang="en-US" sz="11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31520" y="2639568"/>
            <a:ext cx="33528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33" b="0" i="0" u="none" strike="noStrike" kern="1200" cap="none" spc="0" normalizeH="0" baseline="0" noProof="0" dirty="0">
                <a:ln>
                  <a:noFill/>
                </a:ln>
                <a:solidFill>
                  <a:srgbClr val="E8F4F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 Modal GPU warm containers (sub-1s cold start for MedGemma)</a:t>
            </a:r>
            <a:endParaRPr kumimoji="0" lang="en-US" sz="11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31520" y="2932176"/>
            <a:ext cx="33528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33" b="0" i="0" u="none" strike="noStrike" kern="1200" cap="none" spc="0" normalizeH="0" baseline="0" noProof="0" dirty="0">
                <a:ln>
                  <a:noFill/>
                </a:ln>
                <a:solidFill>
                  <a:srgbClr val="E8F4F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 Neon serverless PostgreSQL with pgvector extension</a:t>
            </a:r>
            <a:endParaRPr kumimoji="0" lang="en-US" sz="11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31520" y="3224784"/>
            <a:ext cx="33528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33" b="0" i="0" u="none" strike="noStrike" kern="1200" cap="none" spc="0" normalizeH="0" baseline="0" noProof="0" dirty="0">
                <a:ln>
                  <a:noFill/>
                </a:ln>
                <a:solidFill>
                  <a:srgbClr val="E8F4F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 Full Bangla + English interface — live and tested</a:t>
            </a:r>
            <a:endParaRPr kumimoji="0" lang="en-US" sz="11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0" y="3602736"/>
            <a:ext cx="548640" cy="5486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486400" y="36027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3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 MO</a:t>
            </a:r>
            <a:endParaRPr kumimoji="0" lang="en-US" sz="9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389120" y="1859280"/>
            <a:ext cx="3535680" cy="1645920"/>
          </a:xfrm>
          <a:prstGeom prst="rect">
            <a:avLst/>
          </a:prstGeom>
          <a:solidFill>
            <a:srgbClr val="3B82F6">
              <a:alpha val="10000"/>
            </a:srgbClr>
          </a:solidFill>
          <a:ln w="19050">
            <a:solidFill>
              <a:srgbClr val="3B82F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511040" y="1895856"/>
            <a:ext cx="329184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3B82F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Next 6 Months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511040" y="2346960"/>
            <a:ext cx="33528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33" b="0" i="0" u="none" strike="noStrike" kern="1200" cap="none" spc="0" normalizeH="0" baseline="0" noProof="0" dirty="0">
                <a:ln>
                  <a:noFill/>
                </a:ln>
                <a:solidFill>
                  <a:srgbClr val="E8F4F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 PgBouncer connection pooling for high concurrency</a:t>
            </a:r>
            <a:endParaRPr kumimoji="0" lang="en-US" sz="11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511040" y="2639568"/>
            <a:ext cx="33528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33" b="0" i="0" u="none" strike="noStrike" kern="1200" cap="none" spc="0" normalizeH="0" baseline="0" noProof="0" dirty="0">
                <a:ln>
                  <a:noFill/>
                </a:ln>
                <a:solidFill>
                  <a:srgbClr val="E8F4F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 Expand DrugBank + WHO reference library coverage</a:t>
            </a:r>
            <a:endParaRPr kumimoji="0" lang="en-US" sz="11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511040" y="2932176"/>
            <a:ext cx="33528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33" b="0" i="0" u="none" strike="noStrike" kern="1200" cap="none" spc="0" normalizeH="0" baseline="0" noProof="0" dirty="0">
                <a:ln>
                  <a:noFill/>
                </a:ln>
                <a:solidFill>
                  <a:srgbClr val="E8F4F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 Offline-first sync for low-bandwidth rural users</a:t>
            </a:r>
            <a:endParaRPr kumimoji="0" lang="en-US" sz="11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511040" y="3224784"/>
            <a:ext cx="33528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33" b="0" i="0" u="none" strike="noStrike" kern="1200" cap="none" spc="0" normalizeH="0" baseline="0" noProof="0" dirty="0">
                <a:ln>
                  <a:noFill/>
                </a:ln>
                <a:solidFill>
                  <a:srgbClr val="E8F4F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 Bangla voice interface for illiterate patient access</a:t>
            </a:r>
            <a:endParaRPr kumimoji="0" lang="en-US" sz="11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9265920" y="3602736"/>
            <a:ext cx="548640" cy="548640"/>
          </a:xfrm>
          <a:prstGeom prst="ellipse">
            <a:avLst/>
          </a:prstGeom>
          <a:solidFill>
            <a:srgbClr val="9C4DCC"/>
          </a:solidFill>
          <a:ln w="12700">
            <a:solidFill>
              <a:srgbClr val="9C4DCC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265920" y="36027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3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SCALE</a:t>
            </a:r>
            <a:endParaRPr kumimoji="0" lang="en-US" sz="9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168640" y="1859280"/>
            <a:ext cx="3535680" cy="1645920"/>
          </a:xfrm>
          <a:prstGeom prst="rect">
            <a:avLst/>
          </a:prstGeom>
          <a:solidFill>
            <a:srgbClr val="9C4DCC">
              <a:alpha val="10000"/>
            </a:srgbClr>
          </a:solidFill>
          <a:ln w="19050">
            <a:solidFill>
              <a:srgbClr val="9C4D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290560" y="1895856"/>
            <a:ext cx="329184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9C4DC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Scale — Global Vision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290560" y="2346960"/>
            <a:ext cx="33528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33" b="0" i="0" u="none" strike="noStrike" kern="1200" cap="none" spc="0" normalizeH="0" baseline="0" noProof="0" dirty="0">
                <a:ln>
                  <a:noFill/>
                </a:ln>
                <a:solidFill>
                  <a:srgbClr val="E8F4F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 Predictive disease detection from longitudinal lab trends</a:t>
            </a:r>
            <a:endParaRPr kumimoji="0" lang="en-US" sz="11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290560" y="2639568"/>
            <a:ext cx="33528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33" b="0" i="0" u="none" strike="noStrike" kern="1200" cap="none" spc="0" normalizeH="0" baseline="0" noProof="0" dirty="0">
                <a:ln>
                  <a:noFill/>
                </a:ln>
                <a:solidFill>
                  <a:srgbClr val="E8F4F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 Global data: FDA, EMA, regional drug registries</a:t>
            </a:r>
            <a:endParaRPr kumimoji="0" lang="en-US" sz="11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290560" y="2932176"/>
            <a:ext cx="33528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33" b="0" i="0" u="none" strike="noStrike" kern="1200" cap="none" spc="0" normalizeH="0" baseline="0" noProof="0" dirty="0">
                <a:ln>
                  <a:noFill/>
                </a:ln>
                <a:solidFill>
                  <a:srgbClr val="E8F4F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 Multi-language: Hindi, Urdu, Swahili, Vietnamese</a:t>
            </a:r>
            <a:endParaRPr kumimoji="0" lang="en-US" sz="11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8290560" y="3224784"/>
            <a:ext cx="33528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33" b="0" i="0" u="none" strike="noStrike" kern="1200" cap="none" spc="0" normalizeH="0" baseline="0" noProof="0" dirty="0">
                <a:ln>
                  <a:noFill/>
                </a:ln>
                <a:solidFill>
                  <a:srgbClr val="E8F4F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 Partner with DGHS + WHO public health systems</a:t>
            </a:r>
            <a:endParaRPr kumimoji="0" lang="en-US" sz="11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09600" y="4517136"/>
            <a:ext cx="10972800" cy="1036320"/>
          </a:xfrm>
          <a:prstGeom prst="rect">
            <a:avLst/>
          </a:prstGeom>
          <a:solidFill>
            <a:srgbClr val="102040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853440" y="4541520"/>
            <a:ext cx="36576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0" normalizeH="0" baseline="0" noProof="0" dirty="0">
                <a:ln>
                  <a:noFill/>
                </a:ln>
                <a:solidFill>
                  <a:srgbClr val="00BCD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🎯  KPI Targets</a:t>
            </a:r>
            <a:endParaRPr kumimoji="0" lang="en-US" sz="13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853440" y="4968240"/>
            <a:ext cx="487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Risk detection accuracy ↑ 40%</a:t>
            </a:r>
            <a:endParaRPr kumimoji="0" lang="en-US" sz="13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096000" y="4968240"/>
            <a:ext cx="524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Doctor response time ↓ 60%</a:t>
            </a:r>
            <a:endParaRPr kumimoji="0" lang="en-US" sz="13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365760" y="5614416"/>
            <a:ext cx="1146048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67" normalizeH="0" baseline="0" noProof="0" dirty="0">
                <a:ln>
                  <a:noFill/>
                </a:ln>
                <a:solidFill>
                  <a:srgbClr val="00BCD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BUILD LOCALLY → LEAD GLOBALLY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400" normalizeH="0" baseline="0" noProof="0" dirty="0">
                <a:ln>
                  <a:noFill/>
                </a:ln>
                <a:solidFill>
                  <a:srgbClr val="00C9C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04   ADOPTION · THE CASE FOR NOW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Why To Adopt </a:t>
            </a:r>
            <a:r>
              <a:rPr kumimoji="0" lang="en-US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RxSense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8BA3B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RxSense is production-grade, scalable, and ready for national deployment today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3611880" cy="4572000"/>
          </a:xfrm>
          <a:prstGeom prst="roundRect">
            <a:avLst>
              <a:gd name="adj" fmla="val 2532"/>
            </a:avLst>
          </a:prstGeom>
          <a:solidFill>
            <a:srgbClr val="162032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502920" y="181051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300" normalizeH="0" baseline="0" noProof="0" dirty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PILLAR 01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10312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213055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It's Ready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502920" y="2651760"/>
            <a:ext cx="329184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788920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8096" y="276148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8EDF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system, live and tested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282696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68096" y="325526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8EDF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90%+ accuracy in data extraction &amp; analysis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776472"/>
            <a:ext cx="201168" cy="20116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68096" y="37490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8EDF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Bangla + English — built for Bangladesh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270248"/>
            <a:ext cx="201168" cy="20116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68096" y="424281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8EDF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WHO-aligned drug data and classifications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764024"/>
            <a:ext cx="201168" cy="20116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68096" y="473659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8EDF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10 modules, 1 unified platform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3"/>
          <p:cNvSpPr/>
          <p:nvPr/>
        </p:nvSpPr>
        <p:spPr>
          <a:xfrm>
            <a:off x="4206240" y="1719072"/>
            <a:ext cx="3611880" cy="4572000"/>
          </a:xfrm>
          <a:prstGeom prst="roundRect">
            <a:avLst>
              <a:gd name="adj" fmla="val 2532"/>
            </a:avLst>
          </a:prstGeom>
          <a:solidFill>
            <a:srgbClr val="162032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14"/>
          <p:cNvSpPr/>
          <p:nvPr/>
        </p:nvSpPr>
        <p:spPr>
          <a:xfrm>
            <a:off x="4343400" y="181051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300" normalizeH="0" baseline="0" noProof="0" dirty="0">
                <a:ln>
                  <a:noFill/>
                </a:ln>
                <a:solidFill>
                  <a:srgbClr val="00C9C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PILLAR 02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3400" y="2103120"/>
            <a:ext cx="411480" cy="41148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4846320" y="213055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It's Scalable &amp; Affordable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16"/>
          <p:cNvSpPr/>
          <p:nvPr/>
        </p:nvSpPr>
        <p:spPr>
          <a:xfrm>
            <a:off x="4343400" y="2651760"/>
            <a:ext cx="329184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3400" y="2788920"/>
            <a:ext cx="201168" cy="201168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4608576" y="276148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8EDF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infrastructure — scales to 170M+ users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3400" y="3282696"/>
            <a:ext cx="201168" cy="201168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4608576" y="325526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8EDF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 hospital EMR overhaul required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0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3400" y="3776472"/>
            <a:ext cx="201168" cy="201168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4608576" y="37490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8EDF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Works on basic smartphones — zero hardware barrier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2" name="Image 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3400" y="4270248"/>
            <a:ext cx="201168" cy="201168"/>
          </a:xfrm>
          <a:prstGeom prst="rect">
            <a:avLst/>
          </a:prstGeom>
        </p:spPr>
      </p:pic>
      <p:sp>
        <p:nvSpPr>
          <p:cNvPr id="33" name="Text 20"/>
          <p:cNvSpPr/>
          <p:nvPr/>
        </p:nvSpPr>
        <p:spPr>
          <a:xfrm>
            <a:off x="4608576" y="424281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8EDF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Pay-per-use cloud model — no upfront capital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4" name="Image 1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3400" y="4764024"/>
            <a:ext cx="201168" cy="201168"/>
          </a:xfrm>
          <a:prstGeom prst="rect">
            <a:avLst/>
          </a:prstGeom>
        </p:spPr>
      </p:pic>
      <p:sp>
        <p:nvSpPr>
          <p:cNvPr id="35" name="Text 21"/>
          <p:cNvSpPr/>
          <p:nvPr/>
        </p:nvSpPr>
        <p:spPr>
          <a:xfrm>
            <a:off x="4608576" y="473659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8EDF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National rollout costs &lt; 1 week of wasted diagnostics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22"/>
          <p:cNvSpPr/>
          <p:nvPr/>
        </p:nvSpPr>
        <p:spPr>
          <a:xfrm>
            <a:off x="8046720" y="1719072"/>
            <a:ext cx="3611880" cy="4572000"/>
          </a:xfrm>
          <a:prstGeom prst="roundRect">
            <a:avLst>
              <a:gd name="adj" fmla="val 2532"/>
            </a:avLst>
          </a:prstGeom>
          <a:solidFill>
            <a:srgbClr val="162032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23"/>
          <p:cNvSpPr/>
          <p:nvPr/>
        </p:nvSpPr>
        <p:spPr>
          <a:xfrm>
            <a:off x="8183880" y="181051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300" normalizeH="0" baseline="0" noProof="0" dirty="0">
                <a:ln>
                  <a:noFill/>
                </a:ln>
                <a:solidFill>
                  <a:srgbClr val="4CC9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PILLAR 03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8" name="Image 1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83880" y="2103120"/>
            <a:ext cx="411480" cy="411480"/>
          </a:xfrm>
          <a:prstGeom prst="rect">
            <a:avLst/>
          </a:prstGeom>
        </p:spPr>
      </p:pic>
      <p:sp>
        <p:nvSpPr>
          <p:cNvPr id="39" name="Text 24"/>
          <p:cNvSpPr/>
          <p:nvPr/>
        </p:nvSpPr>
        <p:spPr>
          <a:xfrm>
            <a:off x="8686800" y="213055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It Integrates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25"/>
          <p:cNvSpPr/>
          <p:nvPr/>
        </p:nvSpPr>
        <p:spPr>
          <a:xfrm>
            <a:off x="8183880" y="2651760"/>
            <a:ext cx="329184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1" name="Image 1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83880" y="2788920"/>
            <a:ext cx="201168" cy="201168"/>
          </a:xfrm>
          <a:prstGeom prst="rect">
            <a:avLst/>
          </a:prstGeom>
        </p:spPr>
      </p:pic>
      <p:sp>
        <p:nvSpPr>
          <p:cNvPr id="42" name="Text 26"/>
          <p:cNvSpPr/>
          <p:nvPr/>
        </p:nvSpPr>
        <p:spPr>
          <a:xfrm>
            <a:off x="8449056" y="276148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8EDF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DGHS API-ready architecture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3" name="Image 1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83880" y="3282696"/>
            <a:ext cx="201168" cy="201168"/>
          </a:xfrm>
          <a:prstGeom prst="rect">
            <a:avLst/>
          </a:prstGeom>
        </p:spPr>
      </p:pic>
      <p:sp>
        <p:nvSpPr>
          <p:cNvPr id="44" name="Text 27"/>
          <p:cNvSpPr/>
          <p:nvPr/>
        </p:nvSpPr>
        <p:spPr>
          <a:xfrm>
            <a:off x="8449056" y="325526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8EDF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HL7 FHIR-compatible roadmap for interoperability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5" name="Image 1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83880" y="3776472"/>
            <a:ext cx="201168" cy="201168"/>
          </a:xfrm>
          <a:prstGeom prst="rect">
            <a:avLst/>
          </a:prstGeom>
        </p:spPr>
      </p:pic>
      <p:sp>
        <p:nvSpPr>
          <p:cNvPr id="46" name="Text 28"/>
          <p:cNvSpPr/>
          <p:nvPr/>
        </p:nvSpPr>
        <p:spPr>
          <a:xfrm>
            <a:off x="8449056" y="37490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8EDF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Real RAG pipelines on real clinical data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7" name="Image 1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83880" y="4270248"/>
            <a:ext cx="201168" cy="201168"/>
          </a:xfrm>
          <a:prstGeom prst="rect">
            <a:avLst/>
          </a:prstGeom>
        </p:spPr>
      </p:pic>
      <p:sp>
        <p:nvSpPr>
          <p:cNvPr id="48" name="Text 29"/>
          <p:cNvSpPr/>
          <p:nvPr/>
        </p:nvSpPr>
        <p:spPr>
          <a:xfrm>
            <a:off x="8449056" y="424281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8EDF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— doctors stay in control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9" name="Image 1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83880" y="4764024"/>
            <a:ext cx="201168" cy="201168"/>
          </a:xfrm>
          <a:prstGeom prst="rect">
            <a:avLst/>
          </a:prstGeom>
        </p:spPr>
      </p:pic>
      <p:sp>
        <p:nvSpPr>
          <p:cNvPr id="50" name="Text 30"/>
          <p:cNvSpPr/>
          <p:nvPr/>
        </p:nvSpPr>
        <p:spPr>
          <a:xfrm>
            <a:off x="8449056" y="473659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8EDF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Privacy-first: end-to-end encrypted health records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Shape 31"/>
          <p:cNvSpPr/>
          <p:nvPr/>
        </p:nvSpPr>
        <p:spPr>
          <a:xfrm>
            <a:off x="0" y="6382512"/>
            <a:ext cx="12161520" cy="475488"/>
          </a:xfrm>
          <a:prstGeom prst="rect">
            <a:avLst/>
          </a:prstGeom>
          <a:solidFill>
            <a:srgbClr val="00C9C8"/>
          </a:solidFill>
          <a:ln w="12700">
            <a:solidFill>
              <a:srgbClr val="00C9C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Text 32"/>
          <p:cNvSpPr/>
          <p:nvPr/>
        </p:nvSpPr>
        <p:spPr>
          <a:xfrm>
            <a:off x="365760" y="6419088"/>
            <a:ext cx="11430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"A national RxSense rollout costs less than one week of Bangladesh's redundant diagnostic spending — and saves 4,200+ lives every year."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octor touching a touch screen&#10;&#10;Description automatically generated">
            <a:extLst>
              <a:ext uri="{FF2B5EF4-FFF2-40B4-BE49-F238E27FC236}">
                <a16:creationId xmlns:a16="http://schemas.microsoft.com/office/drawing/2014/main" id="{7FC348A3-DAEF-039F-BDB8-A36C5D8D4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0D14041-44CB-0909-7320-363B3E47FB45}"/>
              </a:ext>
            </a:extLst>
          </p:cNvPr>
          <p:cNvSpPr txBox="1"/>
          <p:nvPr/>
        </p:nvSpPr>
        <p:spPr>
          <a:xfrm>
            <a:off x="8481610" y="5082450"/>
            <a:ext cx="3503914" cy="1282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733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Thank You</a:t>
            </a:r>
            <a:endParaRPr kumimoji="0" lang="en-US" sz="1867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Team: </a:t>
            </a:r>
            <a:r>
              <a:rPr kumimoji="0" lang="en-US" sz="16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SummertimeSadness</a:t>
            </a:r>
            <a:endParaRPr kumimoji="0" lang="en-US" sz="16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849396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975</TotalTime>
  <Words>3646</Words>
  <Application>Microsoft Office PowerPoint</Application>
  <PresentationFormat>Widescreen</PresentationFormat>
  <Paragraphs>571</Paragraphs>
  <Slides>25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Aptos</vt:lpstr>
      <vt:lpstr>Aptos Display</vt:lpstr>
      <vt:lpstr>Arial</vt:lpstr>
      <vt:lpstr>Arial Black</vt:lpstr>
      <vt:lpstr>Calibri</vt:lpstr>
      <vt:lpstr>Office Theme</vt:lpstr>
      <vt:lpstr>1_Office Theme</vt:lpstr>
      <vt:lpstr>2_Office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Shadman Sami Shanon</dc:creator>
  <cp:lastModifiedBy>Shadman Sami Shanon</cp:lastModifiedBy>
  <cp:revision>7</cp:revision>
  <dcterms:created xsi:type="dcterms:W3CDTF">2026-06-10T15:48:11Z</dcterms:created>
  <dcterms:modified xsi:type="dcterms:W3CDTF">2026-06-14T13:01:08Z</dcterms:modified>
</cp:coreProperties>
</file>